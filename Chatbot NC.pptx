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1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9284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5" name="Text 1"/>
          <p:cNvSpPr/>
          <p:nvPr/>
        </p:nvSpPr>
        <p:spPr>
          <a:xfrm>
            <a:off x="833199" y="1836063"/>
            <a:ext cx="7477601" cy="2874645"/>
          </a:xfrm>
          <a:prstGeom prst="rect">
            <a:avLst/>
          </a:prstGeom>
          <a:noFill/>
          <a:ln/>
        </p:spPr>
        <p:txBody>
          <a:bodyPr wrap="square" rtlCol="0" anchor="t"/>
          <a:lstStyle/>
          <a:p>
            <a:pPr>
              <a:lnSpc>
                <a:spcPts val="7545"/>
              </a:lnSpc>
            </a:pPr>
            <a:r>
              <a:rPr lang="en-US" sz="6036" dirty="0"/>
              <a:t>Real-Time Assistance: </a:t>
            </a:r>
            <a:r>
              <a:rPr lang="en-US" sz="6036" dirty="0" err="1"/>
              <a:t>Chatbot</a:t>
            </a:r>
            <a:r>
              <a:rPr lang="en-US" sz="6036" dirty="0"/>
              <a:t> Solutions for Natural Calamities</a:t>
            </a:r>
            <a:endParaRPr lang="en-US" sz="6036" dirty="0"/>
          </a:p>
        </p:txBody>
      </p:sp>
      <p:sp>
        <p:nvSpPr>
          <p:cNvPr id="6" name="Text 2"/>
          <p:cNvSpPr/>
          <p:nvPr/>
        </p:nvSpPr>
        <p:spPr>
          <a:xfrm>
            <a:off x="833199" y="5043964"/>
            <a:ext cx="7477601" cy="710803"/>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Explore how AI-powered chatbots can provide critical aid to individuals and communities during natural emergencies.</a:t>
            </a:r>
            <a:endParaRPr lang="en-US" sz="1750" dirty="0"/>
          </a:p>
        </p:txBody>
      </p:sp>
      <p:sp>
        <p:nvSpPr>
          <p:cNvPr id="7" name="Shape 3"/>
          <p:cNvSpPr/>
          <p:nvPr/>
        </p:nvSpPr>
        <p:spPr>
          <a:xfrm>
            <a:off x="833199" y="6021348"/>
            <a:ext cx="355402" cy="355402"/>
          </a:xfrm>
          <a:prstGeom prst="roundRect">
            <a:avLst>
              <a:gd name="adj" fmla="val 25726039"/>
            </a:avLst>
          </a:prstGeom>
          <a:noFill/>
          <a:ln w="7620">
            <a:solidFill>
              <a:srgbClr val="FFFFFF"/>
            </a:solidFill>
            <a:prstDash val="solid"/>
          </a:ln>
        </p:spPr>
      </p:sp>
      <p:sp>
        <p:nvSpPr>
          <p:cNvPr id="9" name="Text 4"/>
          <p:cNvSpPr/>
          <p:nvPr/>
        </p:nvSpPr>
        <p:spPr>
          <a:xfrm>
            <a:off x="1299686" y="6004679"/>
            <a:ext cx="2491978" cy="388858"/>
          </a:xfrm>
          <a:prstGeom prst="rect">
            <a:avLst/>
          </a:prstGeom>
          <a:noFill/>
          <a:ln/>
        </p:spPr>
        <p:txBody>
          <a:bodyPr wrap="none" rtlCol="0" anchor="t"/>
          <a:lstStyle/>
          <a:p>
            <a:pPr marL="0" indent="0" algn="l">
              <a:lnSpc>
                <a:spcPts val="3062"/>
              </a:lnSpc>
              <a:buNone/>
            </a:pPr>
            <a:endParaRPr lang="en-US" sz="2187" dirty="0"/>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78741" y="1758014"/>
            <a:ext cx="3962400" cy="45080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5" name="Text 1"/>
          <p:cNvSpPr/>
          <p:nvPr/>
        </p:nvSpPr>
        <p:spPr>
          <a:xfrm>
            <a:off x="833199" y="1893094"/>
            <a:ext cx="7477601" cy="2083118"/>
          </a:xfrm>
          <a:prstGeom prst="rect">
            <a:avLst/>
          </a:prstGeom>
          <a:noFill/>
          <a:ln/>
        </p:spPr>
        <p:txBody>
          <a:bodyPr wrap="square" rtlCol="0" anchor="t"/>
          <a:lstStyle/>
          <a:p>
            <a:pPr marL="0" indent="0">
              <a:lnSpc>
                <a:spcPts val="5468"/>
              </a:lnSpc>
              <a:buNone/>
            </a:pPr>
            <a:r>
              <a:rPr lang="en-US" sz="4374" b="1" dirty="0">
                <a:solidFill>
                  <a:srgbClr val="403C4E"/>
                </a:solidFill>
                <a:latin typeface="Merriweather" pitchFamily="34" charset="0"/>
                <a:ea typeface="Merriweather" pitchFamily="34" charset="-122"/>
                <a:cs typeface="Merriweather" pitchFamily="34" charset="-120"/>
              </a:rPr>
              <a:t>Understanding Natural Calamities and their Impacts</a:t>
            </a:r>
            <a:endParaRPr lang="en-US" sz="4374" dirty="0"/>
          </a:p>
        </p:txBody>
      </p:sp>
      <p:sp>
        <p:nvSpPr>
          <p:cNvPr id="6" name="Text 2"/>
          <p:cNvSpPr/>
          <p:nvPr/>
        </p:nvSpPr>
        <p:spPr>
          <a:xfrm>
            <a:off x="833199" y="4309467"/>
            <a:ext cx="7477601" cy="1066205"/>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Natural disasters like hurricanes, earthquakes, and wildfires can devastate communities, destroy infrastructure, and disrupt essential services.</a:t>
            </a:r>
            <a:endParaRPr lang="en-US" sz="1750" dirty="0"/>
          </a:p>
        </p:txBody>
      </p:sp>
      <p:sp>
        <p:nvSpPr>
          <p:cNvPr id="7" name="Text 3"/>
          <p:cNvSpPr/>
          <p:nvPr/>
        </p:nvSpPr>
        <p:spPr>
          <a:xfrm>
            <a:off x="833199" y="5625584"/>
            <a:ext cx="7477601" cy="710803"/>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These events have far-reaching impacts on the environment, economy, and human wellbeing that can last for years.</a:t>
            </a:r>
            <a:endParaRPr lang="en-US" sz="1750" dirty="0"/>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84055" y="1357312"/>
            <a:ext cx="5505450" cy="55149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037993" y="1873687"/>
            <a:ext cx="10554414" cy="1388745"/>
          </a:xfrm>
          <a:prstGeom prst="rect">
            <a:avLst/>
          </a:prstGeom>
          <a:noFill/>
          <a:ln/>
        </p:spPr>
        <p:txBody>
          <a:bodyPr wrap="square" rtlCol="0" anchor="t"/>
          <a:lstStyle/>
          <a:p>
            <a:pPr marL="0" indent="0">
              <a:lnSpc>
                <a:spcPts val="5468"/>
              </a:lnSpc>
              <a:buNone/>
            </a:pPr>
            <a:r>
              <a:rPr lang="en-US" sz="4374" b="1" dirty="0">
                <a:solidFill>
                  <a:srgbClr val="403C4E"/>
                </a:solidFill>
                <a:latin typeface="Merriweather" pitchFamily="34" charset="0"/>
                <a:ea typeface="Merriweather" pitchFamily="34" charset="-122"/>
                <a:cs typeface="Merriweather" pitchFamily="34" charset="-120"/>
              </a:rPr>
              <a:t>Identifying Key Information Needs During Disasters</a:t>
            </a:r>
            <a:endParaRPr lang="en-US" sz="4374" dirty="0"/>
          </a:p>
        </p:txBody>
      </p:sp>
      <p:sp>
        <p:nvSpPr>
          <p:cNvPr id="5" name="Text 2"/>
          <p:cNvSpPr/>
          <p:nvPr/>
        </p:nvSpPr>
        <p:spPr>
          <a:xfrm>
            <a:off x="2037993" y="3817858"/>
            <a:ext cx="2232065" cy="694373"/>
          </a:xfrm>
          <a:prstGeom prst="rect">
            <a:avLst/>
          </a:prstGeom>
          <a:noFill/>
          <a:ln/>
        </p:spPr>
        <p:txBody>
          <a:bodyPr wrap="square" rtlCol="0" anchor="t"/>
          <a:lstStyle/>
          <a:p>
            <a:pPr marL="0" indent="0">
              <a:lnSpc>
                <a:spcPts val="2734"/>
              </a:lnSpc>
              <a:buNone/>
            </a:pPr>
            <a:r>
              <a:rPr lang="en-US" sz="2187" b="1" dirty="0">
                <a:solidFill>
                  <a:srgbClr val="403C4E"/>
                </a:solidFill>
                <a:latin typeface="Merriweather" pitchFamily="34" charset="0"/>
                <a:ea typeface="Merriweather" pitchFamily="34" charset="-122"/>
                <a:cs typeface="Merriweather" pitchFamily="34" charset="-120"/>
              </a:rPr>
              <a:t>Situational Awareness</a:t>
            </a:r>
            <a:endParaRPr lang="en-US" sz="2187" dirty="0"/>
          </a:p>
        </p:txBody>
      </p:sp>
      <p:sp>
        <p:nvSpPr>
          <p:cNvPr id="6" name="Text 3"/>
          <p:cNvSpPr/>
          <p:nvPr/>
        </p:nvSpPr>
        <p:spPr>
          <a:xfrm>
            <a:off x="2037993" y="4734401"/>
            <a:ext cx="2232065" cy="1421606"/>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Real-time updates on disaster location, severity, and affected areas</a:t>
            </a:r>
            <a:endParaRPr lang="en-US" sz="1750" dirty="0"/>
          </a:p>
        </p:txBody>
      </p:sp>
      <p:sp>
        <p:nvSpPr>
          <p:cNvPr id="7" name="Text 4"/>
          <p:cNvSpPr/>
          <p:nvPr/>
        </p:nvSpPr>
        <p:spPr>
          <a:xfrm>
            <a:off x="4819650" y="3817858"/>
            <a:ext cx="2232065" cy="694373"/>
          </a:xfrm>
          <a:prstGeom prst="rect">
            <a:avLst/>
          </a:prstGeom>
          <a:noFill/>
          <a:ln/>
        </p:spPr>
        <p:txBody>
          <a:bodyPr wrap="square" rtlCol="0" anchor="t"/>
          <a:lstStyle/>
          <a:p>
            <a:pPr marL="0" indent="0">
              <a:lnSpc>
                <a:spcPts val="2734"/>
              </a:lnSpc>
              <a:buNone/>
            </a:pPr>
            <a:r>
              <a:rPr lang="en-US" sz="2187" b="1" dirty="0">
                <a:solidFill>
                  <a:srgbClr val="403C4E"/>
                </a:solidFill>
                <a:latin typeface="Merriweather" pitchFamily="34" charset="0"/>
                <a:ea typeface="Merriweather" pitchFamily="34" charset="-122"/>
                <a:cs typeface="Merriweather" pitchFamily="34" charset="-120"/>
              </a:rPr>
              <a:t>Emergency Resources</a:t>
            </a:r>
            <a:endParaRPr lang="en-US" sz="2187" dirty="0"/>
          </a:p>
        </p:txBody>
      </p:sp>
      <p:sp>
        <p:nvSpPr>
          <p:cNvPr id="8" name="Text 5"/>
          <p:cNvSpPr/>
          <p:nvPr/>
        </p:nvSpPr>
        <p:spPr>
          <a:xfrm>
            <a:off x="4819650" y="4734401"/>
            <a:ext cx="2232065" cy="1421606"/>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Accessible info on shelters, evacuation routes, and relief supplies</a:t>
            </a:r>
            <a:endParaRPr lang="en-US" sz="1750" dirty="0"/>
          </a:p>
        </p:txBody>
      </p:sp>
      <p:sp>
        <p:nvSpPr>
          <p:cNvPr id="9" name="Text 6"/>
          <p:cNvSpPr/>
          <p:nvPr/>
        </p:nvSpPr>
        <p:spPr>
          <a:xfrm>
            <a:off x="7601307" y="3817858"/>
            <a:ext cx="2232065" cy="694373"/>
          </a:xfrm>
          <a:prstGeom prst="rect">
            <a:avLst/>
          </a:prstGeom>
          <a:noFill/>
          <a:ln/>
        </p:spPr>
        <p:txBody>
          <a:bodyPr wrap="square" rtlCol="0" anchor="t"/>
          <a:lstStyle/>
          <a:p>
            <a:pPr marL="0" indent="0">
              <a:lnSpc>
                <a:spcPts val="2734"/>
              </a:lnSpc>
              <a:buNone/>
            </a:pPr>
            <a:r>
              <a:rPr lang="en-US" sz="2187" b="1" dirty="0">
                <a:solidFill>
                  <a:srgbClr val="403C4E"/>
                </a:solidFill>
                <a:latin typeface="Merriweather" pitchFamily="34" charset="0"/>
                <a:ea typeface="Merriweather" pitchFamily="34" charset="-122"/>
                <a:cs typeface="Merriweather" pitchFamily="34" charset="-120"/>
              </a:rPr>
              <a:t>Safety Instructions</a:t>
            </a:r>
            <a:endParaRPr lang="en-US" sz="2187" dirty="0"/>
          </a:p>
        </p:txBody>
      </p:sp>
      <p:sp>
        <p:nvSpPr>
          <p:cNvPr id="10" name="Text 7"/>
          <p:cNvSpPr/>
          <p:nvPr/>
        </p:nvSpPr>
        <p:spPr>
          <a:xfrm>
            <a:off x="7601307" y="4734401"/>
            <a:ext cx="2232065" cy="1066205"/>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Tailored guidance on protective actions and staying safe</a:t>
            </a:r>
            <a:endParaRPr lang="en-US" sz="1750" dirty="0"/>
          </a:p>
        </p:txBody>
      </p:sp>
      <p:sp>
        <p:nvSpPr>
          <p:cNvPr id="11" name="Text 8"/>
          <p:cNvSpPr/>
          <p:nvPr/>
        </p:nvSpPr>
        <p:spPr>
          <a:xfrm>
            <a:off x="10382964" y="3817858"/>
            <a:ext cx="2232065" cy="694373"/>
          </a:xfrm>
          <a:prstGeom prst="rect">
            <a:avLst/>
          </a:prstGeom>
          <a:noFill/>
          <a:ln/>
        </p:spPr>
        <p:txBody>
          <a:bodyPr wrap="square" rtlCol="0" anchor="t"/>
          <a:lstStyle/>
          <a:p>
            <a:pPr marL="0" indent="0">
              <a:lnSpc>
                <a:spcPts val="2734"/>
              </a:lnSpc>
              <a:buNone/>
            </a:pPr>
            <a:r>
              <a:rPr lang="en-US" sz="2187" b="1" dirty="0">
                <a:solidFill>
                  <a:srgbClr val="403C4E"/>
                </a:solidFill>
                <a:latin typeface="Merriweather" pitchFamily="34" charset="0"/>
                <a:ea typeface="Merriweather" pitchFamily="34" charset="-122"/>
                <a:cs typeface="Merriweather" pitchFamily="34" charset="-120"/>
              </a:rPr>
              <a:t>Communication Channels</a:t>
            </a:r>
            <a:endParaRPr lang="en-US" sz="2187" dirty="0"/>
          </a:p>
        </p:txBody>
      </p:sp>
      <p:sp>
        <p:nvSpPr>
          <p:cNvPr id="12" name="Text 9"/>
          <p:cNvSpPr/>
          <p:nvPr/>
        </p:nvSpPr>
        <p:spPr>
          <a:xfrm>
            <a:off x="10382964" y="4734401"/>
            <a:ext cx="2232065" cy="1066205"/>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Connecting to loved ones and emergency responders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5" name="Text 1"/>
          <p:cNvSpPr/>
          <p:nvPr/>
        </p:nvSpPr>
        <p:spPr>
          <a:xfrm>
            <a:off x="4483894" y="607576"/>
            <a:ext cx="9320213" cy="1377077"/>
          </a:xfrm>
          <a:prstGeom prst="rect">
            <a:avLst/>
          </a:prstGeom>
          <a:noFill/>
          <a:ln/>
        </p:spPr>
        <p:txBody>
          <a:bodyPr wrap="square" rtlCol="0" anchor="t"/>
          <a:lstStyle/>
          <a:p>
            <a:pPr marL="0" indent="0">
              <a:lnSpc>
                <a:spcPts val="5422"/>
              </a:lnSpc>
              <a:buNone/>
            </a:pPr>
            <a:r>
              <a:rPr lang="en-US" sz="4338" b="1" dirty="0">
                <a:solidFill>
                  <a:srgbClr val="403C4E"/>
                </a:solidFill>
                <a:latin typeface="Merriweather" pitchFamily="34" charset="0"/>
                <a:ea typeface="Merriweather" pitchFamily="34" charset="-122"/>
                <a:cs typeface="Merriweather" pitchFamily="34" charset="-120"/>
              </a:rPr>
              <a:t>Designing the Chatbot's Knowledge Base</a:t>
            </a:r>
            <a:endParaRPr lang="en-US" sz="4338" dirty="0"/>
          </a:p>
        </p:txBody>
      </p:sp>
      <p:sp>
        <p:nvSpPr>
          <p:cNvPr id="6" name="Shape 2"/>
          <p:cNvSpPr/>
          <p:nvPr/>
        </p:nvSpPr>
        <p:spPr>
          <a:xfrm>
            <a:off x="4792385" y="2315170"/>
            <a:ext cx="44053" cy="5306854"/>
          </a:xfrm>
          <a:prstGeom prst="roundRect">
            <a:avLst>
              <a:gd name="adj" fmla="val 225099"/>
            </a:avLst>
          </a:prstGeom>
          <a:solidFill>
            <a:srgbClr val="E5BEB2"/>
          </a:solidFill>
          <a:ln/>
        </p:spPr>
      </p:sp>
      <p:sp>
        <p:nvSpPr>
          <p:cNvPr id="7" name="Shape 3"/>
          <p:cNvSpPr/>
          <p:nvPr/>
        </p:nvSpPr>
        <p:spPr>
          <a:xfrm>
            <a:off x="5062299" y="2713077"/>
            <a:ext cx="771168" cy="44053"/>
          </a:xfrm>
          <a:prstGeom prst="roundRect">
            <a:avLst>
              <a:gd name="adj" fmla="val 225099"/>
            </a:avLst>
          </a:prstGeom>
          <a:solidFill>
            <a:srgbClr val="E5BEB2"/>
          </a:solidFill>
          <a:ln/>
        </p:spPr>
      </p:sp>
      <p:sp>
        <p:nvSpPr>
          <p:cNvPr id="8" name="Shape 4"/>
          <p:cNvSpPr/>
          <p:nvPr/>
        </p:nvSpPr>
        <p:spPr>
          <a:xfrm>
            <a:off x="4566523" y="2487335"/>
            <a:ext cx="495776" cy="495776"/>
          </a:xfrm>
          <a:prstGeom prst="roundRect">
            <a:avLst>
              <a:gd name="adj" fmla="val 20002"/>
            </a:avLst>
          </a:prstGeom>
          <a:solidFill>
            <a:srgbClr val="FFD8CC"/>
          </a:solidFill>
          <a:ln w="7620">
            <a:solidFill>
              <a:srgbClr val="E5BEB2"/>
            </a:solidFill>
            <a:prstDash val="solid"/>
          </a:ln>
        </p:spPr>
      </p:sp>
      <p:sp>
        <p:nvSpPr>
          <p:cNvPr id="9" name="Text 5"/>
          <p:cNvSpPr/>
          <p:nvPr/>
        </p:nvSpPr>
        <p:spPr>
          <a:xfrm>
            <a:off x="4738687" y="2528649"/>
            <a:ext cx="151328" cy="413147"/>
          </a:xfrm>
          <a:prstGeom prst="rect">
            <a:avLst/>
          </a:prstGeom>
          <a:noFill/>
          <a:ln/>
        </p:spPr>
        <p:txBody>
          <a:bodyPr wrap="none" rtlCol="0" anchor="t"/>
          <a:lstStyle/>
          <a:p>
            <a:pPr marL="0" indent="0" algn="ctr">
              <a:lnSpc>
                <a:spcPts val="3253"/>
              </a:lnSpc>
              <a:buNone/>
            </a:pPr>
            <a:r>
              <a:rPr lang="en-US" sz="2603" b="1" dirty="0">
                <a:solidFill>
                  <a:srgbClr val="403C4E"/>
                </a:solidFill>
                <a:latin typeface="Merriweather" pitchFamily="34" charset="0"/>
                <a:ea typeface="Merriweather" pitchFamily="34" charset="-122"/>
                <a:cs typeface="Merriweather" pitchFamily="34" charset="-120"/>
              </a:rPr>
              <a:t>1</a:t>
            </a:r>
            <a:endParaRPr lang="en-US" sz="2603" dirty="0"/>
          </a:p>
        </p:txBody>
      </p:sp>
      <p:sp>
        <p:nvSpPr>
          <p:cNvPr id="10" name="Text 6"/>
          <p:cNvSpPr/>
          <p:nvPr/>
        </p:nvSpPr>
        <p:spPr>
          <a:xfrm>
            <a:off x="6026348" y="2535436"/>
            <a:ext cx="4370308" cy="344329"/>
          </a:xfrm>
          <a:prstGeom prst="rect">
            <a:avLst/>
          </a:prstGeom>
          <a:noFill/>
          <a:ln/>
        </p:spPr>
        <p:txBody>
          <a:bodyPr wrap="none" rtlCol="0" anchor="t"/>
          <a:lstStyle/>
          <a:p>
            <a:pPr marL="0" indent="0" algn="l">
              <a:lnSpc>
                <a:spcPts val="2711"/>
              </a:lnSpc>
              <a:buNone/>
            </a:pPr>
            <a:r>
              <a:rPr lang="en-US" sz="2169" b="1" dirty="0">
                <a:solidFill>
                  <a:srgbClr val="403C4E"/>
                </a:solidFill>
                <a:latin typeface="Merriweather" pitchFamily="34" charset="0"/>
                <a:ea typeface="Merriweather" pitchFamily="34" charset="-122"/>
                <a:cs typeface="Merriweather" pitchFamily="34" charset="-120"/>
              </a:rPr>
              <a:t>Identify Key Information Needs</a:t>
            </a:r>
            <a:endParaRPr lang="en-US" sz="2169" dirty="0"/>
          </a:p>
        </p:txBody>
      </p:sp>
      <p:sp>
        <p:nvSpPr>
          <p:cNvPr id="11" name="Text 7"/>
          <p:cNvSpPr/>
          <p:nvPr/>
        </p:nvSpPr>
        <p:spPr>
          <a:xfrm>
            <a:off x="6026348" y="3011924"/>
            <a:ext cx="7777758" cy="705088"/>
          </a:xfrm>
          <a:prstGeom prst="rect">
            <a:avLst/>
          </a:prstGeom>
          <a:noFill/>
          <a:ln/>
        </p:spPr>
        <p:txBody>
          <a:bodyPr wrap="square" rtlCol="0" anchor="t"/>
          <a:lstStyle/>
          <a:p>
            <a:pPr marL="0" indent="0" algn="l">
              <a:lnSpc>
                <a:spcPts val="2776"/>
              </a:lnSpc>
              <a:buNone/>
            </a:pPr>
            <a:r>
              <a:rPr lang="en-US" sz="1735" dirty="0">
                <a:solidFill>
                  <a:srgbClr val="403C4E"/>
                </a:solidFill>
                <a:latin typeface="Open Sans" pitchFamily="34" charset="0"/>
                <a:ea typeface="Open Sans" pitchFamily="34" charset="-122"/>
                <a:cs typeface="Open Sans" pitchFamily="34" charset="-120"/>
              </a:rPr>
              <a:t>Analyze common disaster scenarios and user queries to determine critical data points.</a:t>
            </a:r>
            <a:endParaRPr lang="en-US" sz="1735" dirty="0"/>
          </a:p>
        </p:txBody>
      </p:sp>
      <p:sp>
        <p:nvSpPr>
          <p:cNvPr id="12" name="Shape 8"/>
          <p:cNvSpPr/>
          <p:nvPr/>
        </p:nvSpPr>
        <p:spPr>
          <a:xfrm>
            <a:off x="5062299" y="4555450"/>
            <a:ext cx="771168" cy="44053"/>
          </a:xfrm>
          <a:prstGeom prst="roundRect">
            <a:avLst>
              <a:gd name="adj" fmla="val 225099"/>
            </a:avLst>
          </a:prstGeom>
          <a:solidFill>
            <a:srgbClr val="E5BEB2"/>
          </a:solidFill>
          <a:ln/>
        </p:spPr>
      </p:sp>
      <p:sp>
        <p:nvSpPr>
          <p:cNvPr id="13" name="Shape 9"/>
          <p:cNvSpPr/>
          <p:nvPr/>
        </p:nvSpPr>
        <p:spPr>
          <a:xfrm>
            <a:off x="4566523" y="4329708"/>
            <a:ext cx="495776" cy="495776"/>
          </a:xfrm>
          <a:prstGeom prst="roundRect">
            <a:avLst>
              <a:gd name="adj" fmla="val 20002"/>
            </a:avLst>
          </a:prstGeom>
          <a:solidFill>
            <a:srgbClr val="FFD8CC"/>
          </a:solidFill>
          <a:ln w="7620">
            <a:solidFill>
              <a:srgbClr val="E5BEB2"/>
            </a:solidFill>
            <a:prstDash val="solid"/>
          </a:ln>
        </p:spPr>
      </p:sp>
      <p:sp>
        <p:nvSpPr>
          <p:cNvPr id="14" name="Text 10"/>
          <p:cNvSpPr/>
          <p:nvPr/>
        </p:nvSpPr>
        <p:spPr>
          <a:xfrm>
            <a:off x="4714399" y="4371023"/>
            <a:ext cx="199906" cy="413147"/>
          </a:xfrm>
          <a:prstGeom prst="rect">
            <a:avLst/>
          </a:prstGeom>
          <a:noFill/>
          <a:ln/>
        </p:spPr>
        <p:txBody>
          <a:bodyPr wrap="none" rtlCol="0" anchor="t"/>
          <a:lstStyle/>
          <a:p>
            <a:pPr marL="0" indent="0" algn="ctr">
              <a:lnSpc>
                <a:spcPts val="3253"/>
              </a:lnSpc>
              <a:buNone/>
            </a:pPr>
            <a:r>
              <a:rPr lang="en-US" sz="2603" b="1" dirty="0">
                <a:solidFill>
                  <a:srgbClr val="403C4E"/>
                </a:solidFill>
                <a:latin typeface="Merriweather" pitchFamily="34" charset="0"/>
                <a:ea typeface="Merriweather" pitchFamily="34" charset="-122"/>
                <a:cs typeface="Merriweather" pitchFamily="34" charset="-120"/>
              </a:rPr>
              <a:t>2</a:t>
            </a:r>
            <a:endParaRPr lang="en-US" sz="2603" dirty="0"/>
          </a:p>
        </p:txBody>
      </p:sp>
      <p:sp>
        <p:nvSpPr>
          <p:cNvPr id="15" name="Text 11"/>
          <p:cNvSpPr/>
          <p:nvPr/>
        </p:nvSpPr>
        <p:spPr>
          <a:xfrm>
            <a:off x="6026348" y="4377809"/>
            <a:ext cx="3990737" cy="344329"/>
          </a:xfrm>
          <a:prstGeom prst="rect">
            <a:avLst/>
          </a:prstGeom>
          <a:noFill/>
          <a:ln/>
        </p:spPr>
        <p:txBody>
          <a:bodyPr wrap="none" rtlCol="0" anchor="t"/>
          <a:lstStyle/>
          <a:p>
            <a:pPr marL="0" indent="0" algn="l">
              <a:lnSpc>
                <a:spcPts val="2711"/>
              </a:lnSpc>
              <a:buNone/>
            </a:pPr>
            <a:r>
              <a:rPr lang="en-US" sz="2169" b="1" dirty="0">
                <a:solidFill>
                  <a:srgbClr val="403C4E"/>
                </a:solidFill>
                <a:latin typeface="Merriweather" pitchFamily="34" charset="0"/>
                <a:ea typeface="Merriweather" pitchFamily="34" charset="-122"/>
                <a:cs typeface="Merriweather" pitchFamily="34" charset="-120"/>
              </a:rPr>
              <a:t>Curate Authoritative Content</a:t>
            </a:r>
            <a:endParaRPr lang="en-US" sz="2169" dirty="0"/>
          </a:p>
        </p:txBody>
      </p:sp>
      <p:sp>
        <p:nvSpPr>
          <p:cNvPr id="16" name="Text 12"/>
          <p:cNvSpPr/>
          <p:nvPr/>
        </p:nvSpPr>
        <p:spPr>
          <a:xfrm>
            <a:off x="6026348" y="4854297"/>
            <a:ext cx="7777758" cy="705088"/>
          </a:xfrm>
          <a:prstGeom prst="rect">
            <a:avLst/>
          </a:prstGeom>
          <a:noFill/>
          <a:ln/>
        </p:spPr>
        <p:txBody>
          <a:bodyPr wrap="square" rtlCol="0" anchor="t"/>
          <a:lstStyle/>
          <a:p>
            <a:pPr marL="0" indent="0" algn="l">
              <a:lnSpc>
                <a:spcPts val="2776"/>
              </a:lnSpc>
              <a:buNone/>
            </a:pPr>
            <a:r>
              <a:rPr lang="en-US" sz="1735" dirty="0">
                <a:solidFill>
                  <a:srgbClr val="403C4E"/>
                </a:solidFill>
                <a:latin typeface="Open Sans" pitchFamily="34" charset="0"/>
                <a:ea typeface="Open Sans" pitchFamily="34" charset="-122"/>
                <a:cs typeface="Open Sans" pitchFamily="34" charset="-120"/>
              </a:rPr>
              <a:t>Gather emergency preparedness guides, safety protocols, and response resources from reliable sources.</a:t>
            </a:r>
            <a:endParaRPr lang="en-US" sz="1735" dirty="0"/>
          </a:p>
        </p:txBody>
      </p:sp>
      <p:sp>
        <p:nvSpPr>
          <p:cNvPr id="17" name="Shape 13"/>
          <p:cNvSpPr/>
          <p:nvPr/>
        </p:nvSpPr>
        <p:spPr>
          <a:xfrm>
            <a:off x="5062299" y="6397823"/>
            <a:ext cx="771168" cy="44053"/>
          </a:xfrm>
          <a:prstGeom prst="roundRect">
            <a:avLst>
              <a:gd name="adj" fmla="val 225099"/>
            </a:avLst>
          </a:prstGeom>
          <a:solidFill>
            <a:srgbClr val="E5BEB2"/>
          </a:solidFill>
          <a:ln/>
        </p:spPr>
      </p:sp>
      <p:sp>
        <p:nvSpPr>
          <p:cNvPr id="18" name="Shape 14"/>
          <p:cNvSpPr/>
          <p:nvPr/>
        </p:nvSpPr>
        <p:spPr>
          <a:xfrm>
            <a:off x="4566523" y="6172081"/>
            <a:ext cx="495776" cy="495776"/>
          </a:xfrm>
          <a:prstGeom prst="roundRect">
            <a:avLst>
              <a:gd name="adj" fmla="val 20002"/>
            </a:avLst>
          </a:prstGeom>
          <a:solidFill>
            <a:srgbClr val="FFD8CC"/>
          </a:solidFill>
          <a:ln w="7620">
            <a:solidFill>
              <a:srgbClr val="E5BEB2"/>
            </a:solidFill>
            <a:prstDash val="solid"/>
          </a:ln>
        </p:spPr>
      </p:sp>
      <p:sp>
        <p:nvSpPr>
          <p:cNvPr id="19" name="Text 15"/>
          <p:cNvSpPr/>
          <p:nvPr/>
        </p:nvSpPr>
        <p:spPr>
          <a:xfrm>
            <a:off x="4720828" y="6213396"/>
            <a:ext cx="187047" cy="413147"/>
          </a:xfrm>
          <a:prstGeom prst="rect">
            <a:avLst/>
          </a:prstGeom>
          <a:noFill/>
          <a:ln/>
        </p:spPr>
        <p:txBody>
          <a:bodyPr wrap="none" rtlCol="0" anchor="t"/>
          <a:lstStyle/>
          <a:p>
            <a:pPr marL="0" indent="0" algn="ctr">
              <a:lnSpc>
                <a:spcPts val="3253"/>
              </a:lnSpc>
              <a:buNone/>
            </a:pPr>
            <a:r>
              <a:rPr lang="en-US" sz="2603" b="1" dirty="0">
                <a:solidFill>
                  <a:srgbClr val="403C4E"/>
                </a:solidFill>
                <a:latin typeface="Merriweather" pitchFamily="34" charset="0"/>
                <a:ea typeface="Merriweather" pitchFamily="34" charset="-122"/>
                <a:cs typeface="Merriweather" pitchFamily="34" charset="-120"/>
              </a:rPr>
              <a:t>3</a:t>
            </a:r>
            <a:endParaRPr lang="en-US" sz="2603" dirty="0"/>
          </a:p>
        </p:txBody>
      </p:sp>
      <p:sp>
        <p:nvSpPr>
          <p:cNvPr id="20" name="Text 16"/>
          <p:cNvSpPr/>
          <p:nvPr/>
        </p:nvSpPr>
        <p:spPr>
          <a:xfrm>
            <a:off x="6026348" y="6220182"/>
            <a:ext cx="4121110" cy="344329"/>
          </a:xfrm>
          <a:prstGeom prst="rect">
            <a:avLst/>
          </a:prstGeom>
          <a:noFill/>
          <a:ln/>
        </p:spPr>
        <p:txBody>
          <a:bodyPr wrap="none" rtlCol="0" anchor="t"/>
          <a:lstStyle/>
          <a:p>
            <a:pPr marL="0" indent="0" algn="l">
              <a:lnSpc>
                <a:spcPts val="2711"/>
              </a:lnSpc>
              <a:buNone/>
            </a:pPr>
            <a:r>
              <a:rPr lang="en-US" sz="2169" b="1" dirty="0">
                <a:solidFill>
                  <a:srgbClr val="403C4E"/>
                </a:solidFill>
                <a:latin typeface="Merriweather" pitchFamily="34" charset="0"/>
                <a:ea typeface="Merriweather" pitchFamily="34" charset="-122"/>
                <a:cs typeface="Merriweather" pitchFamily="34" charset="-120"/>
              </a:rPr>
              <a:t>Structure the Knowledge Base</a:t>
            </a:r>
            <a:endParaRPr lang="en-US" sz="2169" dirty="0"/>
          </a:p>
        </p:txBody>
      </p:sp>
      <p:sp>
        <p:nvSpPr>
          <p:cNvPr id="21" name="Text 17"/>
          <p:cNvSpPr/>
          <p:nvPr/>
        </p:nvSpPr>
        <p:spPr>
          <a:xfrm>
            <a:off x="6026348" y="6696670"/>
            <a:ext cx="7777758" cy="705088"/>
          </a:xfrm>
          <a:prstGeom prst="rect">
            <a:avLst/>
          </a:prstGeom>
          <a:noFill/>
          <a:ln/>
        </p:spPr>
        <p:txBody>
          <a:bodyPr wrap="square" rtlCol="0" anchor="t"/>
          <a:lstStyle/>
          <a:p>
            <a:pPr marL="0" indent="0" algn="l">
              <a:lnSpc>
                <a:spcPts val="2776"/>
              </a:lnSpc>
              <a:buNone/>
            </a:pPr>
            <a:r>
              <a:rPr lang="en-US" sz="1735" dirty="0">
                <a:solidFill>
                  <a:srgbClr val="403C4E"/>
                </a:solidFill>
                <a:latin typeface="Open Sans" pitchFamily="34" charset="0"/>
                <a:ea typeface="Open Sans" pitchFamily="34" charset="-122"/>
                <a:cs typeface="Open Sans" pitchFamily="34" charset="-120"/>
              </a:rPr>
              <a:t>Organize information hierarchically for easy navigation and natural language processing.</a:t>
            </a:r>
            <a:endParaRPr lang="en-US" sz="1735" dirty="0"/>
          </a:p>
        </p:txBody>
      </p:sp>
      <p:pic>
        <p:nvPicPr>
          <p:cNvPr id="23" name="Picture 2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514" y="1128712"/>
            <a:ext cx="4322804" cy="627304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037993" y="1424107"/>
            <a:ext cx="10074950" cy="694373"/>
          </a:xfrm>
          <a:prstGeom prst="rect">
            <a:avLst/>
          </a:prstGeom>
          <a:noFill/>
          <a:ln/>
        </p:spPr>
        <p:txBody>
          <a:bodyPr wrap="none" rtlCol="0" anchor="t"/>
          <a:lstStyle/>
          <a:p>
            <a:pPr marL="0" indent="0">
              <a:lnSpc>
                <a:spcPts val="5468"/>
              </a:lnSpc>
              <a:buNone/>
            </a:pPr>
            <a:r>
              <a:rPr lang="en-US" sz="4374" b="1" dirty="0">
                <a:solidFill>
                  <a:srgbClr val="403C4E"/>
                </a:solidFill>
                <a:latin typeface="Merriweather" pitchFamily="34" charset="0"/>
                <a:ea typeface="Merriweather" pitchFamily="34" charset="-122"/>
                <a:cs typeface="Merriweather" pitchFamily="34" charset="-120"/>
              </a:rPr>
              <a:t>Integrating Real-Time Data Sources</a:t>
            </a:r>
            <a:endParaRPr lang="en-US" sz="4374" dirty="0"/>
          </a:p>
        </p:txBody>
      </p:sp>
      <p:sp>
        <p:nvSpPr>
          <p:cNvPr id="5" name="Text 2"/>
          <p:cNvSpPr/>
          <p:nvPr/>
        </p:nvSpPr>
        <p:spPr>
          <a:xfrm>
            <a:off x="2037993" y="2651641"/>
            <a:ext cx="5006221" cy="1066205"/>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Tap into live weather forecasts, emergency alerts, and evacuation route data to equip the chatbot with the latest disaster information.</a:t>
            </a:r>
            <a:endParaRPr lang="en-US" sz="1750" dirty="0"/>
          </a:p>
        </p:txBody>
      </p:sp>
      <p:sp>
        <p:nvSpPr>
          <p:cNvPr id="6" name="Text 3"/>
          <p:cNvSpPr/>
          <p:nvPr/>
        </p:nvSpPr>
        <p:spPr>
          <a:xfrm>
            <a:off x="2037993" y="3917752"/>
            <a:ext cx="5006221" cy="1421606"/>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Connect with government agencies, emergency services, and crowdsourced platforms to continuously update the chatbot's knowledge base.</a:t>
            </a:r>
            <a:endParaRPr lang="en-US" sz="1750" dirty="0"/>
          </a:p>
        </p:txBody>
      </p:sp>
      <p:sp>
        <p:nvSpPr>
          <p:cNvPr id="7" name="Text 4"/>
          <p:cNvSpPr/>
          <p:nvPr/>
        </p:nvSpPr>
        <p:spPr>
          <a:xfrm>
            <a:off x="2037993" y="5539264"/>
            <a:ext cx="5006221" cy="1066205"/>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Leverage IoT sensors and satellite imagery to monitor environmental conditions and detect emerging threats in real-time.</a:t>
            </a:r>
            <a:endParaRPr lang="en-US" sz="1750" dirty="0"/>
          </a:p>
        </p:txBody>
      </p:sp>
      <p:pic>
        <p:nvPicPr>
          <p:cNvPr id="8" name="Image 1" descr="preencoded.png"/>
          <p:cNvPicPr>
            <a:picLocks noChangeAspect="1"/>
          </p:cNvPicPr>
          <p:nvPr/>
        </p:nvPicPr>
        <p:blipFill>
          <a:blip r:embed="rId4"/>
          <a:stretch>
            <a:fillRect/>
          </a:stretch>
        </p:blipFill>
        <p:spPr>
          <a:xfrm>
            <a:off x="7593806" y="2701647"/>
            <a:ext cx="5006221" cy="371570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037993" y="2383274"/>
            <a:ext cx="10453211" cy="694373"/>
          </a:xfrm>
          <a:prstGeom prst="rect">
            <a:avLst/>
          </a:prstGeom>
          <a:noFill/>
          <a:ln/>
        </p:spPr>
        <p:txBody>
          <a:bodyPr wrap="none" rtlCol="0" anchor="t"/>
          <a:lstStyle/>
          <a:p>
            <a:pPr marL="0" indent="0">
              <a:lnSpc>
                <a:spcPts val="5468"/>
              </a:lnSpc>
              <a:buNone/>
            </a:pPr>
            <a:r>
              <a:rPr lang="en-US" sz="4374" b="1" dirty="0">
                <a:solidFill>
                  <a:srgbClr val="403C4E"/>
                </a:solidFill>
                <a:latin typeface="Merriweather" pitchFamily="34" charset="0"/>
                <a:ea typeface="Merriweather" pitchFamily="34" charset="-122"/>
                <a:cs typeface="Merriweather" pitchFamily="34" charset="-120"/>
              </a:rPr>
              <a:t>Enabling Multi-Channel Accessibility</a:t>
            </a:r>
            <a:endParaRPr lang="en-US" sz="4374" dirty="0"/>
          </a:p>
        </p:txBody>
      </p:sp>
      <p:pic>
        <p:nvPicPr>
          <p:cNvPr id="5" name="Image 1" descr="preencoded.png"/>
          <p:cNvPicPr>
            <a:picLocks noChangeAspect="1"/>
          </p:cNvPicPr>
          <p:nvPr/>
        </p:nvPicPr>
        <p:blipFill>
          <a:blip r:embed="rId4"/>
          <a:stretch>
            <a:fillRect/>
          </a:stretch>
        </p:blipFill>
        <p:spPr>
          <a:xfrm>
            <a:off x="2037993" y="3521988"/>
            <a:ext cx="555427" cy="555427"/>
          </a:xfrm>
          <a:prstGeom prst="rect">
            <a:avLst/>
          </a:prstGeom>
        </p:spPr>
      </p:pic>
      <p:sp>
        <p:nvSpPr>
          <p:cNvPr id="6" name="Text 2"/>
          <p:cNvSpPr/>
          <p:nvPr/>
        </p:nvSpPr>
        <p:spPr>
          <a:xfrm>
            <a:off x="2037993" y="4299585"/>
            <a:ext cx="2388632" cy="347186"/>
          </a:xfrm>
          <a:prstGeom prst="rect">
            <a:avLst/>
          </a:prstGeom>
          <a:noFill/>
          <a:ln/>
        </p:spPr>
        <p:txBody>
          <a:bodyPr wrap="none" rtlCol="0" anchor="t"/>
          <a:lstStyle/>
          <a:p>
            <a:pPr marL="0" indent="0" algn="l">
              <a:lnSpc>
                <a:spcPts val="2734"/>
              </a:lnSpc>
              <a:buNone/>
            </a:pPr>
            <a:r>
              <a:rPr lang="en-US" sz="2187" b="1" dirty="0">
                <a:solidFill>
                  <a:srgbClr val="403C4E"/>
                </a:solidFill>
                <a:latin typeface="Merriweather" pitchFamily="34" charset="0"/>
                <a:ea typeface="Merriweather" pitchFamily="34" charset="-122"/>
                <a:cs typeface="Merriweather" pitchFamily="34" charset="-120"/>
              </a:rPr>
              <a:t>Mobile App</a:t>
            </a:r>
            <a:endParaRPr lang="en-US" sz="2187" dirty="0"/>
          </a:p>
        </p:txBody>
      </p:sp>
      <p:sp>
        <p:nvSpPr>
          <p:cNvPr id="7" name="Text 3"/>
          <p:cNvSpPr/>
          <p:nvPr/>
        </p:nvSpPr>
        <p:spPr>
          <a:xfrm>
            <a:off x="2037993" y="4780002"/>
            <a:ext cx="2388632" cy="710803"/>
          </a:xfrm>
          <a:prstGeom prst="rect">
            <a:avLst/>
          </a:prstGeom>
          <a:noFill/>
          <a:ln/>
        </p:spPr>
        <p:txBody>
          <a:bodyPr wrap="square" rtlCol="0" anchor="t"/>
          <a:lstStyle/>
          <a:p>
            <a:pPr marL="0" indent="0" algn="l">
              <a:lnSpc>
                <a:spcPts val="2799"/>
              </a:lnSpc>
              <a:buNone/>
            </a:pPr>
            <a:r>
              <a:rPr lang="en-US" sz="1750" dirty="0">
                <a:solidFill>
                  <a:srgbClr val="403C4E"/>
                </a:solidFill>
                <a:latin typeface="Open Sans" pitchFamily="34" charset="0"/>
                <a:ea typeface="Open Sans" pitchFamily="34" charset="-122"/>
                <a:cs typeface="Open Sans" pitchFamily="34" charset="-120"/>
              </a:rPr>
              <a:t>Intuitive mobile app for on-the-go access</a:t>
            </a:r>
            <a:endParaRPr lang="en-US" sz="1750" dirty="0"/>
          </a:p>
        </p:txBody>
      </p:sp>
      <p:pic>
        <p:nvPicPr>
          <p:cNvPr id="8" name="Image 2" descr="preencoded.png"/>
          <p:cNvPicPr>
            <a:picLocks noChangeAspect="1"/>
          </p:cNvPicPr>
          <p:nvPr/>
        </p:nvPicPr>
        <p:blipFill>
          <a:blip r:embed="rId5"/>
          <a:stretch>
            <a:fillRect/>
          </a:stretch>
        </p:blipFill>
        <p:spPr>
          <a:xfrm>
            <a:off x="4759881" y="3521988"/>
            <a:ext cx="555427" cy="555427"/>
          </a:xfrm>
          <a:prstGeom prst="rect">
            <a:avLst/>
          </a:prstGeom>
        </p:spPr>
      </p:pic>
      <p:sp>
        <p:nvSpPr>
          <p:cNvPr id="9" name="Text 4"/>
          <p:cNvSpPr/>
          <p:nvPr/>
        </p:nvSpPr>
        <p:spPr>
          <a:xfrm>
            <a:off x="4759881" y="4299585"/>
            <a:ext cx="2388632" cy="347186"/>
          </a:xfrm>
          <a:prstGeom prst="rect">
            <a:avLst/>
          </a:prstGeom>
          <a:noFill/>
          <a:ln/>
        </p:spPr>
        <p:txBody>
          <a:bodyPr wrap="none" rtlCol="0" anchor="t"/>
          <a:lstStyle/>
          <a:p>
            <a:pPr marL="0" indent="0" algn="l">
              <a:lnSpc>
                <a:spcPts val="2734"/>
              </a:lnSpc>
              <a:buNone/>
            </a:pPr>
            <a:r>
              <a:rPr lang="en-US" sz="2187" b="1" dirty="0">
                <a:solidFill>
                  <a:srgbClr val="403C4E"/>
                </a:solidFill>
                <a:latin typeface="Merriweather" pitchFamily="34" charset="0"/>
                <a:ea typeface="Merriweather" pitchFamily="34" charset="-122"/>
                <a:cs typeface="Merriweather" pitchFamily="34" charset="-120"/>
              </a:rPr>
              <a:t>Website</a:t>
            </a:r>
            <a:endParaRPr lang="en-US" sz="2187" dirty="0"/>
          </a:p>
        </p:txBody>
      </p:sp>
      <p:sp>
        <p:nvSpPr>
          <p:cNvPr id="10" name="Text 5"/>
          <p:cNvSpPr/>
          <p:nvPr/>
        </p:nvSpPr>
        <p:spPr>
          <a:xfrm>
            <a:off x="4759881" y="4780002"/>
            <a:ext cx="2388632" cy="1066205"/>
          </a:xfrm>
          <a:prstGeom prst="rect">
            <a:avLst/>
          </a:prstGeom>
          <a:noFill/>
          <a:ln/>
        </p:spPr>
        <p:txBody>
          <a:bodyPr wrap="square" rtlCol="0" anchor="t"/>
          <a:lstStyle/>
          <a:p>
            <a:pPr marL="0" indent="0" algn="l">
              <a:lnSpc>
                <a:spcPts val="2799"/>
              </a:lnSpc>
              <a:buNone/>
            </a:pPr>
            <a:r>
              <a:rPr lang="en-US" sz="1750" dirty="0">
                <a:solidFill>
                  <a:srgbClr val="403C4E"/>
                </a:solidFill>
                <a:latin typeface="Open Sans" pitchFamily="34" charset="0"/>
                <a:ea typeface="Open Sans" pitchFamily="34" charset="-122"/>
                <a:cs typeface="Open Sans" pitchFamily="34" charset="-120"/>
              </a:rPr>
              <a:t>Responsive, easy-to-navigate website for desktop users</a:t>
            </a:r>
            <a:endParaRPr lang="en-US" sz="1750" dirty="0"/>
          </a:p>
        </p:txBody>
      </p:sp>
      <p:pic>
        <p:nvPicPr>
          <p:cNvPr id="11" name="Image 3" descr="preencoded.png"/>
          <p:cNvPicPr>
            <a:picLocks noChangeAspect="1"/>
          </p:cNvPicPr>
          <p:nvPr/>
        </p:nvPicPr>
        <p:blipFill>
          <a:blip r:embed="rId6"/>
          <a:stretch>
            <a:fillRect/>
          </a:stretch>
        </p:blipFill>
        <p:spPr>
          <a:xfrm>
            <a:off x="7481768" y="3521988"/>
            <a:ext cx="555427" cy="555427"/>
          </a:xfrm>
          <a:prstGeom prst="rect">
            <a:avLst/>
          </a:prstGeom>
        </p:spPr>
      </p:pic>
      <p:sp>
        <p:nvSpPr>
          <p:cNvPr id="12" name="Text 6"/>
          <p:cNvSpPr/>
          <p:nvPr/>
        </p:nvSpPr>
        <p:spPr>
          <a:xfrm>
            <a:off x="7481768" y="4299585"/>
            <a:ext cx="2388632" cy="347186"/>
          </a:xfrm>
          <a:prstGeom prst="rect">
            <a:avLst/>
          </a:prstGeom>
          <a:noFill/>
          <a:ln/>
        </p:spPr>
        <p:txBody>
          <a:bodyPr wrap="none" rtlCol="0" anchor="t"/>
          <a:lstStyle/>
          <a:p>
            <a:pPr marL="0" indent="0" algn="l">
              <a:lnSpc>
                <a:spcPts val="2734"/>
              </a:lnSpc>
              <a:buNone/>
            </a:pPr>
            <a:r>
              <a:rPr lang="en-US" sz="2187" b="1" dirty="0">
                <a:solidFill>
                  <a:srgbClr val="403C4E"/>
                </a:solidFill>
                <a:latin typeface="Merriweather" pitchFamily="34" charset="0"/>
                <a:ea typeface="Merriweather" pitchFamily="34" charset="-122"/>
                <a:cs typeface="Merriweather" pitchFamily="34" charset="-120"/>
              </a:rPr>
              <a:t>Hotline</a:t>
            </a:r>
            <a:endParaRPr lang="en-US" sz="2187" dirty="0"/>
          </a:p>
        </p:txBody>
      </p:sp>
      <p:sp>
        <p:nvSpPr>
          <p:cNvPr id="13" name="Text 7"/>
          <p:cNvSpPr/>
          <p:nvPr/>
        </p:nvSpPr>
        <p:spPr>
          <a:xfrm>
            <a:off x="7481768" y="4780002"/>
            <a:ext cx="2388632" cy="1066205"/>
          </a:xfrm>
          <a:prstGeom prst="rect">
            <a:avLst/>
          </a:prstGeom>
          <a:noFill/>
          <a:ln/>
        </p:spPr>
        <p:txBody>
          <a:bodyPr wrap="square" rtlCol="0" anchor="t"/>
          <a:lstStyle/>
          <a:p>
            <a:pPr marL="0" indent="0" algn="l">
              <a:lnSpc>
                <a:spcPts val="2799"/>
              </a:lnSpc>
              <a:buNone/>
            </a:pPr>
            <a:r>
              <a:rPr lang="en-US" sz="1750" dirty="0">
                <a:solidFill>
                  <a:srgbClr val="403C4E"/>
                </a:solidFill>
                <a:latin typeface="Open Sans" pitchFamily="34" charset="0"/>
                <a:ea typeface="Open Sans" pitchFamily="34" charset="-122"/>
                <a:cs typeface="Open Sans" pitchFamily="34" charset="-120"/>
              </a:rPr>
              <a:t>24/7 emergency hotline for voice assistance</a:t>
            </a:r>
            <a:endParaRPr lang="en-US" sz="1750" dirty="0"/>
          </a:p>
        </p:txBody>
      </p:sp>
      <p:pic>
        <p:nvPicPr>
          <p:cNvPr id="14" name="Image 4" descr="preencoded.png"/>
          <p:cNvPicPr>
            <a:picLocks noChangeAspect="1"/>
          </p:cNvPicPr>
          <p:nvPr/>
        </p:nvPicPr>
        <p:blipFill>
          <a:blip r:embed="rId7"/>
          <a:stretch>
            <a:fillRect/>
          </a:stretch>
        </p:blipFill>
        <p:spPr>
          <a:xfrm>
            <a:off x="10203656" y="3521988"/>
            <a:ext cx="555427" cy="555427"/>
          </a:xfrm>
          <a:prstGeom prst="rect">
            <a:avLst/>
          </a:prstGeom>
        </p:spPr>
      </p:pic>
      <p:sp>
        <p:nvSpPr>
          <p:cNvPr id="15" name="Text 8"/>
          <p:cNvSpPr/>
          <p:nvPr/>
        </p:nvSpPr>
        <p:spPr>
          <a:xfrm>
            <a:off x="10203656" y="4299585"/>
            <a:ext cx="2388751" cy="347186"/>
          </a:xfrm>
          <a:prstGeom prst="rect">
            <a:avLst/>
          </a:prstGeom>
          <a:noFill/>
          <a:ln/>
        </p:spPr>
        <p:txBody>
          <a:bodyPr wrap="none" rtlCol="0" anchor="t"/>
          <a:lstStyle/>
          <a:p>
            <a:pPr marL="0" indent="0" algn="l">
              <a:lnSpc>
                <a:spcPts val="2734"/>
              </a:lnSpc>
              <a:buNone/>
            </a:pPr>
            <a:r>
              <a:rPr lang="en-US" sz="2187" b="1" dirty="0">
                <a:solidFill>
                  <a:srgbClr val="403C4E"/>
                </a:solidFill>
                <a:latin typeface="Merriweather" pitchFamily="34" charset="0"/>
                <a:ea typeface="Merriweather" pitchFamily="34" charset="-122"/>
                <a:cs typeface="Merriweather" pitchFamily="34" charset="-120"/>
              </a:rPr>
              <a:t>Chatbot</a:t>
            </a:r>
            <a:endParaRPr lang="en-US" sz="2187" dirty="0"/>
          </a:p>
        </p:txBody>
      </p:sp>
      <p:sp>
        <p:nvSpPr>
          <p:cNvPr id="16" name="Text 9"/>
          <p:cNvSpPr/>
          <p:nvPr/>
        </p:nvSpPr>
        <p:spPr>
          <a:xfrm>
            <a:off x="10203656" y="4780002"/>
            <a:ext cx="2388751" cy="1066205"/>
          </a:xfrm>
          <a:prstGeom prst="rect">
            <a:avLst/>
          </a:prstGeom>
          <a:noFill/>
          <a:ln/>
        </p:spPr>
        <p:txBody>
          <a:bodyPr wrap="square" rtlCol="0" anchor="t"/>
          <a:lstStyle/>
          <a:p>
            <a:pPr marL="0" indent="0" algn="l">
              <a:lnSpc>
                <a:spcPts val="2799"/>
              </a:lnSpc>
              <a:buNone/>
            </a:pPr>
            <a:r>
              <a:rPr lang="en-US" sz="1750" dirty="0">
                <a:solidFill>
                  <a:srgbClr val="403C4E"/>
                </a:solidFill>
                <a:latin typeface="Open Sans" pitchFamily="34" charset="0"/>
                <a:ea typeface="Open Sans" pitchFamily="34" charset="-122"/>
                <a:cs typeface="Open Sans" pitchFamily="34" charset="-120"/>
              </a:rPr>
              <a:t>Conversational AI for instant messaging support</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037993" y="1093946"/>
            <a:ext cx="10554414" cy="1388745"/>
          </a:xfrm>
          <a:prstGeom prst="rect">
            <a:avLst/>
          </a:prstGeom>
          <a:noFill/>
          <a:ln/>
        </p:spPr>
        <p:txBody>
          <a:bodyPr wrap="square" rtlCol="0" anchor="t"/>
          <a:lstStyle/>
          <a:p>
            <a:pPr marL="0" indent="0">
              <a:lnSpc>
                <a:spcPts val="5468"/>
              </a:lnSpc>
              <a:buNone/>
            </a:pPr>
            <a:r>
              <a:rPr lang="en-US" sz="4374" b="1" dirty="0">
                <a:solidFill>
                  <a:srgbClr val="403C4E"/>
                </a:solidFill>
                <a:latin typeface="Merriweather" pitchFamily="34" charset="0"/>
                <a:ea typeface="Merriweather" pitchFamily="34" charset="-122"/>
                <a:cs typeface="Merriweather" pitchFamily="34" charset="-120"/>
              </a:rPr>
              <a:t>Providing Personalized Recommendations</a:t>
            </a:r>
            <a:endParaRPr lang="en-US" sz="4374" dirty="0"/>
          </a:p>
        </p:txBody>
      </p:sp>
      <p:pic>
        <p:nvPicPr>
          <p:cNvPr id="5" name="Image 1" descr="preencoded.png"/>
          <p:cNvPicPr>
            <a:picLocks noChangeAspect="1"/>
          </p:cNvPicPr>
          <p:nvPr/>
        </p:nvPicPr>
        <p:blipFill>
          <a:blip r:embed="rId4"/>
          <a:stretch>
            <a:fillRect/>
          </a:stretch>
        </p:blipFill>
        <p:spPr>
          <a:xfrm>
            <a:off x="2037993" y="2927032"/>
            <a:ext cx="3295888" cy="2036921"/>
          </a:xfrm>
          <a:prstGeom prst="rect">
            <a:avLst/>
          </a:prstGeom>
        </p:spPr>
      </p:pic>
      <p:sp>
        <p:nvSpPr>
          <p:cNvPr id="6" name="Text 2"/>
          <p:cNvSpPr/>
          <p:nvPr/>
        </p:nvSpPr>
        <p:spPr>
          <a:xfrm>
            <a:off x="2037993" y="5241607"/>
            <a:ext cx="3295888" cy="694373"/>
          </a:xfrm>
          <a:prstGeom prst="rect">
            <a:avLst/>
          </a:prstGeom>
          <a:noFill/>
          <a:ln/>
        </p:spPr>
        <p:txBody>
          <a:bodyPr wrap="square" rtlCol="0" anchor="t"/>
          <a:lstStyle/>
          <a:p>
            <a:pPr marL="0" indent="0" algn="l">
              <a:lnSpc>
                <a:spcPts val="2734"/>
              </a:lnSpc>
              <a:buNone/>
            </a:pPr>
            <a:r>
              <a:rPr lang="en-US" sz="2187" b="1" dirty="0">
                <a:solidFill>
                  <a:srgbClr val="403C4E"/>
                </a:solidFill>
                <a:latin typeface="Merriweather" pitchFamily="34" charset="0"/>
                <a:ea typeface="Merriweather" pitchFamily="34" charset="-122"/>
                <a:cs typeface="Merriweather" pitchFamily="34" charset="-120"/>
              </a:rPr>
              <a:t>Tailored to Your Location</a:t>
            </a:r>
            <a:endParaRPr lang="en-US" sz="2187" dirty="0"/>
          </a:p>
        </p:txBody>
      </p:sp>
      <p:sp>
        <p:nvSpPr>
          <p:cNvPr id="7" name="Text 3"/>
          <p:cNvSpPr/>
          <p:nvPr/>
        </p:nvSpPr>
        <p:spPr>
          <a:xfrm>
            <a:off x="2037993" y="6069211"/>
            <a:ext cx="3295888" cy="1066205"/>
          </a:xfrm>
          <a:prstGeom prst="rect">
            <a:avLst/>
          </a:prstGeom>
          <a:noFill/>
          <a:ln/>
        </p:spPr>
        <p:txBody>
          <a:bodyPr wrap="square" rtlCol="0" anchor="t"/>
          <a:lstStyle/>
          <a:p>
            <a:pPr marL="0" indent="0" algn="l">
              <a:lnSpc>
                <a:spcPts val="2799"/>
              </a:lnSpc>
              <a:buNone/>
            </a:pPr>
            <a:r>
              <a:rPr lang="en-US" sz="1750" dirty="0">
                <a:solidFill>
                  <a:srgbClr val="403C4E"/>
                </a:solidFill>
                <a:latin typeface="Open Sans" pitchFamily="34" charset="0"/>
                <a:ea typeface="Open Sans" pitchFamily="34" charset="-122"/>
                <a:cs typeface="Open Sans" pitchFamily="34" charset="-120"/>
              </a:rPr>
              <a:t>Provides recommendations based on your address and local conditions.</a:t>
            </a:r>
            <a:endParaRPr lang="en-US" sz="1750" dirty="0"/>
          </a:p>
        </p:txBody>
      </p:sp>
      <p:pic>
        <p:nvPicPr>
          <p:cNvPr id="8" name="Image 2" descr="preencoded.png"/>
          <p:cNvPicPr>
            <a:picLocks noChangeAspect="1"/>
          </p:cNvPicPr>
          <p:nvPr/>
        </p:nvPicPr>
        <p:blipFill>
          <a:blip r:embed="rId5"/>
          <a:stretch>
            <a:fillRect/>
          </a:stretch>
        </p:blipFill>
        <p:spPr>
          <a:xfrm>
            <a:off x="5667137" y="2927032"/>
            <a:ext cx="3296007" cy="2037040"/>
          </a:xfrm>
          <a:prstGeom prst="rect">
            <a:avLst/>
          </a:prstGeom>
        </p:spPr>
      </p:pic>
      <p:sp>
        <p:nvSpPr>
          <p:cNvPr id="9" name="Text 4"/>
          <p:cNvSpPr/>
          <p:nvPr/>
        </p:nvSpPr>
        <p:spPr>
          <a:xfrm>
            <a:off x="5667137" y="5241727"/>
            <a:ext cx="3296007" cy="694373"/>
          </a:xfrm>
          <a:prstGeom prst="rect">
            <a:avLst/>
          </a:prstGeom>
          <a:noFill/>
          <a:ln/>
        </p:spPr>
        <p:txBody>
          <a:bodyPr wrap="square" rtlCol="0" anchor="t"/>
          <a:lstStyle/>
          <a:p>
            <a:pPr marL="0" indent="0" algn="l">
              <a:lnSpc>
                <a:spcPts val="2734"/>
              </a:lnSpc>
              <a:buNone/>
            </a:pPr>
            <a:r>
              <a:rPr lang="en-US" sz="2187" b="1" dirty="0">
                <a:solidFill>
                  <a:srgbClr val="403C4E"/>
                </a:solidFill>
                <a:latin typeface="Merriweather" pitchFamily="34" charset="0"/>
                <a:ea typeface="Merriweather" pitchFamily="34" charset="-122"/>
                <a:cs typeface="Merriweather" pitchFamily="34" charset="-120"/>
              </a:rPr>
              <a:t>Customized for Your Needs</a:t>
            </a:r>
            <a:endParaRPr lang="en-US" sz="2187" dirty="0"/>
          </a:p>
        </p:txBody>
      </p:sp>
      <p:sp>
        <p:nvSpPr>
          <p:cNvPr id="10" name="Text 5"/>
          <p:cNvSpPr/>
          <p:nvPr/>
        </p:nvSpPr>
        <p:spPr>
          <a:xfrm>
            <a:off x="5667137" y="6069330"/>
            <a:ext cx="3296007" cy="1066205"/>
          </a:xfrm>
          <a:prstGeom prst="rect">
            <a:avLst/>
          </a:prstGeom>
          <a:noFill/>
          <a:ln/>
        </p:spPr>
        <p:txBody>
          <a:bodyPr wrap="square" rtlCol="0" anchor="t"/>
          <a:lstStyle/>
          <a:p>
            <a:pPr marL="0" indent="0" algn="l">
              <a:lnSpc>
                <a:spcPts val="2799"/>
              </a:lnSpc>
              <a:buNone/>
            </a:pPr>
            <a:r>
              <a:rPr lang="en-US" sz="1750" dirty="0">
                <a:solidFill>
                  <a:srgbClr val="403C4E"/>
                </a:solidFill>
                <a:latin typeface="Open Sans" pitchFamily="34" charset="0"/>
                <a:ea typeface="Open Sans" pitchFamily="34" charset="-122"/>
                <a:cs typeface="Open Sans" pitchFamily="34" charset="-120"/>
              </a:rPr>
              <a:t>Adapts its guidance to your unique situation and requirements.</a:t>
            </a:r>
            <a:endParaRPr lang="en-US" sz="1750" dirty="0"/>
          </a:p>
        </p:txBody>
      </p:sp>
      <p:pic>
        <p:nvPicPr>
          <p:cNvPr id="11" name="Image 3" descr="preencoded.png"/>
          <p:cNvPicPr>
            <a:picLocks noChangeAspect="1"/>
          </p:cNvPicPr>
          <p:nvPr/>
        </p:nvPicPr>
        <p:blipFill>
          <a:blip r:embed="rId6"/>
          <a:stretch>
            <a:fillRect/>
          </a:stretch>
        </p:blipFill>
        <p:spPr>
          <a:xfrm>
            <a:off x="9296400" y="2927032"/>
            <a:ext cx="3296007" cy="2037040"/>
          </a:xfrm>
          <a:prstGeom prst="rect">
            <a:avLst/>
          </a:prstGeom>
        </p:spPr>
      </p:pic>
      <p:sp>
        <p:nvSpPr>
          <p:cNvPr id="12" name="Text 6"/>
          <p:cNvSpPr/>
          <p:nvPr/>
        </p:nvSpPr>
        <p:spPr>
          <a:xfrm>
            <a:off x="9296400" y="5241727"/>
            <a:ext cx="3296007" cy="694373"/>
          </a:xfrm>
          <a:prstGeom prst="rect">
            <a:avLst/>
          </a:prstGeom>
          <a:noFill/>
          <a:ln/>
        </p:spPr>
        <p:txBody>
          <a:bodyPr wrap="square" rtlCol="0" anchor="t"/>
          <a:lstStyle/>
          <a:p>
            <a:pPr marL="0" indent="0" algn="l">
              <a:lnSpc>
                <a:spcPts val="2734"/>
              </a:lnSpc>
              <a:buNone/>
            </a:pPr>
            <a:r>
              <a:rPr lang="en-US" sz="2187" b="1" dirty="0">
                <a:solidFill>
                  <a:srgbClr val="403C4E"/>
                </a:solidFill>
                <a:latin typeface="Merriweather" pitchFamily="34" charset="0"/>
                <a:ea typeface="Merriweather" pitchFamily="34" charset="-122"/>
                <a:cs typeface="Merriweather" pitchFamily="34" charset="-120"/>
              </a:rPr>
              <a:t>Dynamic and Up-to-Date</a:t>
            </a:r>
            <a:endParaRPr lang="en-US" sz="2187" dirty="0"/>
          </a:p>
        </p:txBody>
      </p:sp>
      <p:sp>
        <p:nvSpPr>
          <p:cNvPr id="13" name="Text 7"/>
          <p:cNvSpPr/>
          <p:nvPr/>
        </p:nvSpPr>
        <p:spPr>
          <a:xfrm>
            <a:off x="9296400" y="6069330"/>
            <a:ext cx="3296007" cy="1066205"/>
          </a:xfrm>
          <a:prstGeom prst="rect">
            <a:avLst/>
          </a:prstGeom>
          <a:noFill/>
          <a:ln/>
        </p:spPr>
        <p:txBody>
          <a:bodyPr wrap="square" rtlCol="0" anchor="t"/>
          <a:lstStyle/>
          <a:p>
            <a:pPr marL="0" indent="0" algn="l">
              <a:lnSpc>
                <a:spcPts val="2799"/>
              </a:lnSpc>
              <a:buNone/>
            </a:pPr>
            <a:r>
              <a:rPr lang="en-US" sz="1750" dirty="0">
                <a:solidFill>
                  <a:srgbClr val="403C4E"/>
                </a:solidFill>
                <a:latin typeface="Open Sans" pitchFamily="34" charset="0"/>
                <a:ea typeface="Open Sans" pitchFamily="34" charset="-122"/>
                <a:cs typeface="Open Sans" pitchFamily="34" charset="-120"/>
              </a:rPr>
              <a:t>Continuously updates its knowledge to reflect changing conditions.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0314"/>
          </a:xfrm>
          <a:prstGeom prst="rect">
            <a:avLst/>
          </a:prstGeom>
          <a:solidFill>
            <a:srgbClr val="FFFFFF"/>
          </a:solidFill>
          <a:ln/>
        </p:spPr>
      </p:sp>
      <p:sp>
        <p:nvSpPr>
          <p:cNvPr id="4" name="Text 1"/>
          <p:cNvSpPr/>
          <p:nvPr/>
        </p:nvSpPr>
        <p:spPr>
          <a:xfrm>
            <a:off x="3161109" y="480893"/>
            <a:ext cx="8308062" cy="1093232"/>
          </a:xfrm>
          <a:prstGeom prst="rect">
            <a:avLst/>
          </a:prstGeom>
          <a:noFill/>
          <a:ln/>
        </p:spPr>
        <p:txBody>
          <a:bodyPr wrap="square" rtlCol="0" anchor="t"/>
          <a:lstStyle/>
          <a:p>
            <a:pPr marL="0" indent="0">
              <a:lnSpc>
                <a:spcPts val="4304"/>
              </a:lnSpc>
              <a:buNone/>
            </a:pPr>
            <a:r>
              <a:rPr lang="en-US" sz="3443" b="1" dirty="0">
                <a:solidFill>
                  <a:srgbClr val="403C4E"/>
                </a:solidFill>
                <a:latin typeface="Merriweather" pitchFamily="34" charset="0"/>
                <a:ea typeface="Merriweather" pitchFamily="34" charset="-122"/>
                <a:cs typeface="Merriweather" pitchFamily="34" charset="-120"/>
              </a:rPr>
              <a:t>Facilitating Emergency Coordination and Response</a:t>
            </a:r>
            <a:endParaRPr lang="en-US" sz="3443" dirty="0"/>
          </a:p>
        </p:txBody>
      </p:sp>
      <p:pic>
        <p:nvPicPr>
          <p:cNvPr id="5" name="Image 1" descr="preencoded.png"/>
          <p:cNvPicPr>
            <a:picLocks noChangeAspect="1"/>
          </p:cNvPicPr>
          <p:nvPr/>
        </p:nvPicPr>
        <p:blipFill>
          <a:blip r:embed="rId4"/>
          <a:stretch>
            <a:fillRect/>
          </a:stretch>
        </p:blipFill>
        <p:spPr>
          <a:xfrm>
            <a:off x="4552593" y="1923931"/>
            <a:ext cx="1370767" cy="1287542"/>
          </a:xfrm>
          <a:prstGeom prst="rect">
            <a:avLst/>
          </a:prstGeom>
        </p:spPr>
      </p:pic>
      <p:sp>
        <p:nvSpPr>
          <p:cNvPr id="6" name="Text 2"/>
          <p:cNvSpPr/>
          <p:nvPr/>
        </p:nvSpPr>
        <p:spPr>
          <a:xfrm>
            <a:off x="5187791" y="2559606"/>
            <a:ext cx="100132" cy="349687"/>
          </a:xfrm>
          <a:prstGeom prst="rect">
            <a:avLst/>
          </a:prstGeom>
          <a:noFill/>
          <a:ln/>
        </p:spPr>
        <p:txBody>
          <a:bodyPr wrap="none" rtlCol="0" anchor="t"/>
          <a:lstStyle/>
          <a:p>
            <a:pPr marL="0" indent="0" algn="ctr">
              <a:lnSpc>
                <a:spcPts val="2754"/>
              </a:lnSpc>
              <a:buNone/>
            </a:pPr>
            <a:r>
              <a:rPr lang="en-US" sz="1722" b="1" dirty="0">
                <a:solidFill>
                  <a:srgbClr val="403C4E"/>
                </a:solidFill>
                <a:latin typeface="Merriweather" pitchFamily="34" charset="0"/>
                <a:ea typeface="Merriweather" pitchFamily="34" charset="-122"/>
                <a:cs typeface="Merriweather" pitchFamily="34" charset="-120"/>
              </a:rPr>
              <a:t>1</a:t>
            </a:r>
            <a:endParaRPr lang="en-US" sz="1722" dirty="0"/>
          </a:p>
        </p:txBody>
      </p:sp>
      <p:sp>
        <p:nvSpPr>
          <p:cNvPr id="7" name="Text 3"/>
          <p:cNvSpPr/>
          <p:nvPr/>
        </p:nvSpPr>
        <p:spPr>
          <a:xfrm>
            <a:off x="6098262" y="2238732"/>
            <a:ext cx="2967157" cy="273248"/>
          </a:xfrm>
          <a:prstGeom prst="rect">
            <a:avLst/>
          </a:prstGeom>
          <a:noFill/>
          <a:ln/>
        </p:spPr>
        <p:txBody>
          <a:bodyPr wrap="none" rtlCol="0" anchor="t"/>
          <a:lstStyle/>
          <a:p>
            <a:pPr marL="0" indent="0" algn="l">
              <a:lnSpc>
                <a:spcPts val="2152"/>
              </a:lnSpc>
              <a:buNone/>
            </a:pPr>
            <a:r>
              <a:rPr lang="en-US" sz="1722" b="1" dirty="0">
                <a:solidFill>
                  <a:srgbClr val="403C4E"/>
                </a:solidFill>
                <a:latin typeface="Merriweather" pitchFamily="34" charset="0"/>
                <a:ea typeface="Merriweather" pitchFamily="34" charset="-122"/>
                <a:cs typeface="Merriweather" pitchFamily="34" charset="-120"/>
              </a:rPr>
              <a:t>Rapid Information Sharing</a:t>
            </a:r>
            <a:endParaRPr lang="en-US" sz="1722" dirty="0"/>
          </a:p>
        </p:txBody>
      </p:sp>
      <p:sp>
        <p:nvSpPr>
          <p:cNvPr id="8" name="Text 4"/>
          <p:cNvSpPr/>
          <p:nvPr/>
        </p:nvSpPr>
        <p:spPr>
          <a:xfrm>
            <a:off x="6098262" y="2616875"/>
            <a:ext cx="4047292" cy="279797"/>
          </a:xfrm>
          <a:prstGeom prst="rect">
            <a:avLst/>
          </a:prstGeom>
          <a:noFill/>
          <a:ln/>
        </p:spPr>
        <p:txBody>
          <a:bodyPr wrap="none" rtlCol="0" anchor="t"/>
          <a:lstStyle/>
          <a:p>
            <a:pPr marL="0" indent="0" algn="l">
              <a:lnSpc>
                <a:spcPts val="2204"/>
              </a:lnSpc>
              <a:buNone/>
            </a:pPr>
            <a:r>
              <a:rPr lang="en-US" sz="1377" dirty="0">
                <a:solidFill>
                  <a:srgbClr val="403C4E"/>
                </a:solidFill>
                <a:latin typeface="Open Sans" pitchFamily="34" charset="0"/>
                <a:ea typeface="Open Sans" pitchFamily="34" charset="-122"/>
                <a:cs typeface="Open Sans" pitchFamily="34" charset="-120"/>
              </a:rPr>
              <a:t>Connecting community members and responders</a:t>
            </a:r>
            <a:endParaRPr lang="en-US" sz="1377" dirty="0"/>
          </a:p>
        </p:txBody>
      </p:sp>
      <p:sp>
        <p:nvSpPr>
          <p:cNvPr id="9" name="Shape 5"/>
          <p:cNvSpPr/>
          <p:nvPr/>
        </p:nvSpPr>
        <p:spPr>
          <a:xfrm>
            <a:off x="5967055" y="3214717"/>
            <a:ext cx="5458420" cy="17443"/>
          </a:xfrm>
          <a:prstGeom prst="roundRect">
            <a:avLst>
              <a:gd name="adj" fmla="val 451236"/>
            </a:avLst>
          </a:prstGeom>
          <a:solidFill>
            <a:srgbClr val="E5BEB2"/>
          </a:solidFill>
          <a:ln/>
        </p:spPr>
      </p:sp>
      <p:pic>
        <p:nvPicPr>
          <p:cNvPr id="10" name="Image 2" descr="preencoded.png"/>
          <p:cNvPicPr>
            <a:picLocks noChangeAspect="1"/>
          </p:cNvPicPr>
          <p:nvPr/>
        </p:nvPicPr>
        <p:blipFill>
          <a:blip r:embed="rId5"/>
          <a:stretch>
            <a:fillRect/>
          </a:stretch>
        </p:blipFill>
        <p:spPr>
          <a:xfrm>
            <a:off x="3867269" y="3255169"/>
            <a:ext cx="2741652" cy="1287542"/>
          </a:xfrm>
          <a:prstGeom prst="rect">
            <a:avLst/>
          </a:prstGeom>
        </p:spPr>
      </p:pic>
      <p:sp>
        <p:nvSpPr>
          <p:cNvPr id="11" name="Text 6"/>
          <p:cNvSpPr/>
          <p:nvPr/>
        </p:nvSpPr>
        <p:spPr>
          <a:xfrm>
            <a:off x="5171837" y="3724037"/>
            <a:ext cx="132278" cy="349687"/>
          </a:xfrm>
          <a:prstGeom prst="rect">
            <a:avLst/>
          </a:prstGeom>
          <a:noFill/>
          <a:ln/>
        </p:spPr>
        <p:txBody>
          <a:bodyPr wrap="none" rtlCol="0" anchor="t"/>
          <a:lstStyle/>
          <a:p>
            <a:pPr marL="0" indent="0" algn="ctr">
              <a:lnSpc>
                <a:spcPts val="2754"/>
              </a:lnSpc>
              <a:buNone/>
            </a:pPr>
            <a:r>
              <a:rPr lang="en-US" sz="1722" b="1" dirty="0">
                <a:solidFill>
                  <a:srgbClr val="403C4E"/>
                </a:solidFill>
                <a:latin typeface="Merriweather" pitchFamily="34" charset="0"/>
                <a:ea typeface="Merriweather" pitchFamily="34" charset="-122"/>
                <a:cs typeface="Merriweather" pitchFamily="34" charset="-120"/>
              </a:rPr>
              <a:t>2</a:t>
            </a:r>
            <a:endParaRPr lang="en-US" sz="1722" dirty="0"/>
          </a:p>
        </p:txBody>
      </p:sp>
      <p:sp>
        <p:nvSpPr>
          <p:cNvPr id="12" name="Text 7"/>
          <p:cNvSpPr/>
          <p:nvPr/>
        </p:nvSpPr>
        <p:spPr>
          <a:xfrm>
            <a:off x="6783824" y="3569970"/>
            <a:ext cx="3590330" cy="273248"/>
          </a:xfrm>
          <a:prstGeom prst="rect">
            <a:avLst/>
          </a:prstGeom>
          <a:noFill/>
          <a:ln/>
        </p:spPr>
        <p:txBody>
          <a:bodyPr wrap="none" rtlCol="0" anchor="t"/>
          <a:lstStyle/>
          <a:p>
            <a:pPr marL="0" indent="0" algn="l">
              <a:lnSpc>
                <a:spcPts val="2152"/>
              </a:lnSpc>
              <a:buNone/>
            </a:pPr>
            <a:r>
              <a:rPr lang="en-US" sz="1722" b="1" dirty="0">
                <a:solidFill>
                  <a:srgbClr val="403C4E"/>
                </a:solidFill>
                <a:latin typeface="Merriweather" pitchFamily="34" charset="0"/>
                <a:ea typeface="Merriweather" pitchFamily="34" charset="-122"/>
                <a:cs typeface="Merriweather" pitchFamily="34" charset="-120"/>
              </a:rPr>
              <a:t>Coordinated Resource Allocation</a:t>
            </a:r>
            <a:endParaRPr lang="en-US" sz="1722" dirty="0"/>
          </a:p>
        </p:txBody>
      </p:sp>
      <p:sp>
        <p:nvSpPr>
          <p:cNvPr id="13" name="Text 8"/>
          <p:cNvSpPr/>
          <p:nvPr/>
        </p:nvSpPr>
        <p:spPr>
          <a:xfrm>
            <a:off x="6783824" y="3948113"/>
            <a:ext cx="3590330" cy="279797"/>
          </a:xfrm>
          <a:prstGeom prst="rect">
            <a:avLst/>
          </a:prstGeom>
          <a:noFill/>
          <a:ln/>
        </p:spPr>
        <p:txBody>
          <a:bodyPr wrap="none" rtlCol="0" anchor="t"/>
          <a:lstStyle/>
          <a:p>
            <a:pPr marL="0" indent="0" algn="l">
              <a:lnSpc>
                <a:spcPts val="2204"/>
              </a:lnSpc>
              <a:buNone/>
            </a:pPr>
            <a:r>
              <a:rPr lang="en-US" sz="1377" dirty="0">
                <a:solidFill>
                  <a:srgbClr val="403C4E"/>
                </a:solidFill>
                <a:latin typeface="Open Sans" pitchFamily="34" charset="0"/>
                <a:ea typeface="Open Sans" pitchFamily="34" charset="-122"/>
                <a:cs typeface="Open Sans" pitchFamily="34" charset="-120"/>
              </a:rPr>
              <a:t>Efficiently distributing aid and supplies</a:t>
            </a:r>
            <a:endParaRPr lang="en-US" sz="1377" dirty="0"/>
          </a:p>
        </p:txBody>
      </p:sp>
      <p:sp>
        <p:nvSpPr>
          <p:cNvPr id="14" name="Shape 9"/>
          <p:cNvSpPr/>
          <p:nvPr/>
        </p:nvSpPr>
        <p:spPr>
          <a:xfrm>
            <a:off x="6652617" y="4545955"/>
            <a:ext cx="4772858" cy="17443"/>
          </a:xfrm>
          <a:prstGeom prst="roundRect">
            <a:avLst>
              <a:gd name="adj" fmla="val 451236"/>
            </a:avLst>
          </a:prstGeom>
          <a:solidFill>
            <a:srgbClr val="E5BEB2"/>
          </a:solidFill>
          <a:ln/>
        </p:spPr>
      </p:sp>
      <p:pic>
        <p:nvPicPr>
          <p:cNvPr id="15" name="Image 3" descr="preencoded.png"/>
          <p:cNvPicPr>
            <a:picLocks noChangeAspect="1"/>
          </p:cNvPicPr>
          <p:nvPr/>
        </p:nvPicPr>
        <p:blipFill>
          <a:blip r:embed="rId6"/>
          <a:stretch>
            <a:fillRect/>
          </a:stretch>
        </p:blipFill>
        <p:spPr>
          <a:xfrm>
            <a:off x="3181826" y="4586407"/>
            <a:ext cx="4112419" cy="1287542"/>
          </a:xfrm>
          <a:prstGeom prst="rect">
            <a:avLst/>
          </a:prstGeom>
        </p:spPr>
      </p:pic>
      <p:sp>
        <p:nvSpPr>
          <p:cNvPr id="16" name="Text 10"/>
          <p:cNvSpPr/>
          <p:nvPr/>
        </p:nvSpPr>
        <p:spPr>
          <a:xfrm>
            <a:off x="5176004" y="5055275"/>
            <a:ext cx="123825" cy="349687"/>
          </a:xfrm>
          <a:prstGeom prst="rect">
            <a:avLst/>
          </a:prstGeom>
          <a:noFill/>
          <a:ln/>
        </p:spPr>
        <p:txBody>
          <a:bodyPr wrap="none" rtlCol="0" anchor="t"/>
          <a:lstStyle/>
          <a:p>
            <a:pPr marL="0" indent="0" algn="ctr">
              <a:lnSpc>
                <a:spcPts val="2754"/>
              </a:lnSpc>
              <a:buNone/>
            </a:pPr>
            <a:r>
              <a:rPr lang="en-US" sz="1722" b="1" dirty="0">
                <a:solidFill>
                  <a:srgbClr val="403C4E"/>
                </a:solidFill>
                <a:latin typeface="Merriweather" pitchFamily="34" charset="0"/>
                <a:ea typeface="Merriweather" pitchFamily="34" charset="-122"/>
                <a:cs typeface="Merriweather" pitchFamily="34" charset="-120"/>
              </a:rPr>
              <a:t>3</a:t>
            </a:r>
            <a:endParaRPr lang="en-US" sz="1722" dirty="0"/>
          </a:p>
        </p:txBody>
      </p:sp>
      <p:sp>
        <p:nvSpPr>
          <p:cNvPr id="17" name="Text 11"/>
          <p:cNvSpPr/>
          <p:nvPr/>
        </p:nvSpPr>
        <p:spPr>
          <a:xfrm>
            <a:off x="7469148" y="4761309"/>
            <a:ext cx="3423523" cy="273248"/>
          </a:xfrm>
          <a:prstGeom prst="rect">
            <a:avLst/>
          </a:prstGeom>
          <a:noFill/>
          <a:ln/>
        </p:spPr>
        <p:txBody>
          <a:bodyPr wrap="none" rtlCol="0" anchor="t"/>
          <a:lstStyle/>
          <a:p>
            <a:pPr marL="0" indent="0" algn="l">
              <a:lnSpc>
                <a:spcPts val="2152"/>
              </a:lnSpc>
              <a:buNone/>
            </a:pPr>
            <a:r>
              <a:rPr lang="en-US" sz="1722" b="1" dirty="0">
                <a:solidFill>
                  <a:srgbClr val="403C4E"/>
                </a:solidFill>
                <a:latin typeface="Merriweather" pitchFamily="34" charset="0"/>
                <a:ea typeface="Merriweather" pitchFamily="34" charset="-122"/>
                <a:cs typeface="Merriweather" pitchFamily="34" charset="-120"/>
              </a:rPr>
              <a:t>Streamlined Rescue Operations</a:t>
            </a:r>
            <a:endParaRPr lang="en-US" sz="1722" dirty="0"/>
          </a:p>
        </p:txBody>
      </p:sp>
      <p:sp>
        <p:nvSpPr>
          <p:cNvPr id="18" name="Text 12"/>
          <p:cNvSpPr/>
          <p:nvPr/>
        </p:nvSpPr>
        <p:spPr>
          <a:xfrm>
            <a:off x="7469148" y="5139452"/>
            <a:ext cx="3825121" cy="559594"/>
          </a:xfrm>
          <a:prstGeom prst="rect">
            <a:avLst/>
          </a:prstGeom>
          <a:noFill/>
          <a:ln/>
        </p:spPr>
        <p:txBody>
          <a:bodyPr wrap="square" rtlCol="0" anchor="t"/>
          <a:lstStyle/>
          <a:p>
            <a:pPr marL="0" indent="0" algn="l">
              <a:lnSpc>
                <a:spcPts val="2204"/>
              </a:lnSpc>
              <a:buNone/>
            </a:pPr>
            <a:r>
              <a:rPr lang="en-US" sz="1377" dirty="0">
                <a:solidFill>
                  <a:srgbClr val="403C4E"/>
                </a:solidFill>
                <a:latin typeface="Open Sans" pitchFamily="34" charset="0"/>
                <a:ea typeface="Open Sans" pitchFamily="34" charset="-122"/>
                <a:cs typeface="Open Sans" pitchFamily="34" charset="-120"/>
              </a:rPr>
              <a:t>Guiding evacuations and first responder actions</a:t>
            </a:r>
            <a:endParaRPr lang="en-US" sz="1377" dirty="0"/>
          </a:p>
        </p:txBody>
      </p:sp>
      <p:sp>
        <p:nvSpPr>
          <p:cNvPr id="19" name="Text 13"/>
          <p:cNvSpPr/>
          <p:nvPr/>
        </p:nvSpPr>
        <p:spPr>
          <a:xfrm>
            <a:off x="3161109" y="6070640"/>
            <a:ext cx="8308062" cy="1678781"/>
          </a:xfrm>
          <a:prstGeom prst="rect">
            <a:avLst/>
          </a:prstGeom>
          <a:noFill/>
          <a:ln/>
        </p:spPr>
        <p:txBody>
          <a:bodyPr wrap="square" rtlCol="0" anchor="t"/>
          <a:lstStyle/>
          <a:p>
            <a:pPr marL="0" indent="0">
              <a:lnSpc>
                <a:spcPts val="2204"/>
              </a:lnSpc>
              <a:buNone/>
            </a:pPr>
            <a:r>
              <a:rPr lang="en-US" sz="1377" dirty="0">
                <a:solidFill>
                  <a:srgbClr val="403C4E"/>
                </a:solidFill>
                <a:latin typeface="Open Sans" pitchFamily="34" charset="0"/>
                <a:ea typeface="Open Sans" pitchFamily="34" charset="-122"/>
                <a:cs typeface="Open Sans" pitchFamily="34" charset="-120"/>
              </a:rPr>
              <a:t>The chatbot plays a crucial role in facilitating seamless emergency coordination and response efforts. By rapidly sharing real-time updates and alerts, the system enables community members and first responders to stay informed and aligned. Additionally, the chatbot coordinates the allocation of critical resources like shelter, food, and medical supplies to ensure they reach those in greatest need. Most importantly, the chatbot provides step-by-step guidance to streamline rescue operations, directing evacuations and guiding the actions of emergency personnel.</a:t>
            </a:r>
            <a:endParaRPr lang="en-US" sz="137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037993" y="1436370"/>
            <a:ext cx="10554414" cy="1388745"/>
          </a:xfrm>
          <a:prstGeom prst="rect">
            <a:avLst/>
          </a:prstGeom>
          <a:noFill/>
          <a:ln/>
        </p:spPr>
        <p:txBody>
          <a:bodyPr wrap="square" rtlCol="0" anchor="t"/>
          <a:lstStyle/>
          <a:p>
            <a:pPr marL="0" indent="0">
              <a:lnSpc>
                <a:spcPts val="5468"/>
              </a:lnSpc>
              <a:buNone/>
            </a:pPr>
            <a:r>
              <a:rPr lang="en-US" sz="4374" b="1" dirty="0">
                <a:solidFill>
                  <a:srgbClr val="403C4E"/>
                </a:solidFill>
                <a:latin typeface="Merriweather" pitchFamily="34" charset="0"/>
                <a:ea typeface="Merriweather" pitchFamily="34" charset="-122"/>
                <a:cs typeface="Merriweather" pitchFamily="34" charset="-120"/>
              </a:rPr>
              <a:t>Ensuring Privacy and Security Measures</a:t>
            </a:r>
            <a:endParaRPr lang="en-US" sz="4374" dirty="0"/>
          </a:p>
        </p:txBody>
      </p:sp>
      <p:sp>
        <p:nvSpPr>
          <p:cNvPr id="5" name="Shape 2"/>
          <p:cNvSpPr/>
          <p:nvPr/>
        </p:nvSpPr>
        <p:spPr>
          <a:xfrm>
            <a:off x="2037993" y="3269456"/>
            <a:ext cx="5166122" cy="1650802"/>
          </a:xfrm>
          <a:prstGeom prst="roundRect">
            <a:avLst>
              <a:gd name="adj" fmla="val 6057"/>
            </a:avLst>
          </a:prstGeom>
          <a:solidFill>
            <a:srgbClr val="FFD8CC"/>
          </a:solidFill>
          <a:ln w="7620">
            <a:solidFill>
              <a:srgbClr val="E5BEB2"/>
            </a:solidFill>
            <a:prstDash val="solid"/>
          </a:ln>
        </p:spPr>
      </p:sp>
      <p:sp>
        <p:nvSpPr>
          <p:cNvPr id="6" name="Text 3"/>
          <p:cNvSpPr/>
          <p:nvPr/>
        </p:nvSpPr>
        <p:spPr>
          <a:xfrm>
            <a:off x="2267783" y="3499247"/>
            <a:ext cx="2777490" cy="347186"/>
          </a:xfrm>
          <a:prstGeom prst="rect">
            <a:avLst/>
          </a:prstGeom>
          <a:noFill/>
          <a:ln/>
        </p:spPr>
        <p:txBody>
          <a:bodyPr wrap="none" rtlCol="0" anchor="t"/>
          <a:lstStyle/>
          <a:p>
            <a:pPr marL="0" indent="0">
              <a:lnSpc>
                <a:spcPts val="2734"/>
              </a:lnSpc>
              <a:buNone/>
            </a:pPr>
            <a:r>
              <a:rPr lang="en-US" sz="2187" b="1" dirty="0">
                <a:solidFill>
                  <a:srgbClr val="403C4E"/>
                </a:solidFill>
                <a:latin typeface="Merriweather" pitchFamily="34" charset="0"/>
                <a:ea typeface="Merriweather" pitchFamily="34" charset="-122"/>
                <a:cs typeface="Merriweather" pitchFamily="34" charset="-120"/>
              </a:rPr>
              <a:t>Secure Data Storage</a:t>
            </a:r>
            <a:endParaRPr lang="en-US" sz="2187" dirty="0"/>
          </a:p>
        </p:txBody>
      </p:sp>
      <p:sp>
        <p:nvSpPr>
          <p:cNvPr id="7" name="Text 4"/>
          <p:cNvSpPr/>
          <p:nvPr/>
        </p:nvSpPr>
        <p:spPr>
          <a:xfrm>
            <a:off x="2267783" y="3979664"/>
            <a:ext cx="4706541" cy="710803"/>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Store user data safely using encryption and access controls.</a:t>
            </a:r>
            <a:endParaRPr lang="en-US" sz="1750" dirty="0"/>
          </a:p>
        </p:txBody>
      </p:sp>
      <p:sp>
        <p:nvSpPr>
          <p:cNvPr id="8" name="Shape 5"/>
          <p:cNvSpPr/>
          <p:nvPr/>
        </p:nvSpPr>
        <p:spPr>
          <a:xfrm>
            <a:off x="7426285" y="3269456"/>
            <a:ext cx="5166122" cy="1650802"/>
          </a:xfrm>
          <a:prstGeom prst="roundRect">
            <a:avLst>
              <a:gd name="adj" fmla="val 6057"/>
            </a:avLst>
          </a:prstGeom>
          <a:solidFill>
            <a:srgbClr val="FFD8CC"/>
          </a:solidFill>
          <a:ln w="7620">
            <a:solidFill>
              <a:srgbClr val="E5BEB2"/>
            </a:solidFill>
            <a:prstDash val="solid"/>
          </a:ln>
        </p:spPr>
      </p:sp>
      <p:sp>
        <p:nvSpPr>
          <p:cNvPr id="9" name="Text 6"/>
          <p:cNvSpPr/>
          <p:nvPr/>
        </p:nvSpPr>
        <p:spPr>
          <a:xfrm>
            <a:off x="7656076" y="3499247"/>
            <a:ext cx="2954060" cy="347186"/>
          </a:xfrm>
          <a:prstGeom prst="rect">
            <a:avLst/>
          </a:prstGeom>
          <a:noFill/>
          <a:ln/>
        </p:spPr>
        <p:txBody>
          <a:bodyPr wrap="none" rtlCol="0" anchor="t"/>
          <a:lstStyle/>
          <a:p>
            <a:pPr marL="0" indent="0">
              <a:lnSpc>
                <a:spcPts val="2734"/>
              </a:lnSpc>
              <a:buNone/>
            </a:pPr>
            <a:r>
              <a:rPr lang="en-US" sz="2187" b="1" dirty="0">
                <a:solidFill>
                  <a:srgbClr val="403C4E"/>
                </a:solidFill>
                <a:latin typeface="Merriweather" pitchFamily="34" charset="0"/>
                <a:ea typeface="Merriweather" pitchFamily="34" charset="-122"/>
                <a:cs typeface="Merriweather" pitchFamily="34" charset="-120"/>
              </a:rPr>
              <a:t>Authenticated Access</a:t>
            </a:r>
            <a:endParaRPr lang="en-US" sz="2187" dirty="0"/>
          </a:p>
        </p:txBody>
      </p:sp>
      <p:sp>
        <p:nvSpPr>
          <p:cNvPr id="10" name="Text 7"/>
          <p:cNvSpPr/>
          <p:nvPr/>
        </p:nvSpPr>
        <p:spPr>
          <a:xfrm>
            <a:off x="7656076" y="3979664"/>
            <a:ext cx="4706541" cy="710803"/>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Implement secure login and authorization mechanisms.</a:t>
            </a:r>
            <a:endParaRPr lang="en-US" sz="1750" dirty="0"/>
          </a:p>
        </p:txBody>
      </p:sp>
      <p:sp>
        <p:nvSpPr>
          <p:cNvPr id="11" name="Shape 8"/>
          <p:cNvSpPr/>
          <p:nvPr/>
        </p:nvSpPr>
        <p:spPr>
          <a:xfrm>
            <a:off x="2037993" y="5142428"/>
            <a:ext cx="5166122" cy="1650802"/>
          </a:xfrm>
          <a:prstGeom prst="roundRect">
            <a:avLst>
              <a:gd name="adj" fmla="val 6057"/>
            </a:avLst>
          </a:prstGeom>
          <a:solidFill>
            <a:srgbClr val="FFD8CC"/>
          </a:solidFill>
          <a:ln w="7620">
            <a:solidFill>
              <a:srgbClr val="E5BEB2"/>
            </a:solidFill>
            <a:prstDash val="solid"/>
          </a:ln>
        </p:spPr>
      </p:sp>
      <p:sp>
        <p:nvSpPr>
          <p:cNvPr id="12" name="Text 9"/>
          <p:cNvSpPr/>
          <p:nvPr/>
        </p:nvSpPr>
        <p:spPr>
          <a:xfrm>
            <a:off x="2267783" y="5372219"/>
            <a:ext cx="3594854" cy="347186"/>
          </a:xfrm>
          <a:prstGeom prst="rect">
            <a:avLst/>
          </a:prstGeom>
          <a:noFill/>
          <a:ln/>
        </p:spPr>
        <p:txBody>
          <a:bodyPr wrap="none" rtlCol="0" anchor="t"/>
          <a:lstStyle/>
          <a:p>
            <a:pPr marL="0" indent="0">
              <a:lnSpc>
                <a:spcPts val="2734"/>
              </a:lnSpc>
              <a:buNone/>
            </a:pPr>
            <a:r>
              <a:rPr lang="en-US" sz="2187" b="1" dirty="0">
                <a:solidFill>
                  <a:srgbClr val="403C4E"/>
                </a:solidFill>
                <a:latin typeface="Merriweather" pitchFamily="34" charset="0"/>
                <a:ea typeface="Merriweather" pitchFamily="34" charset="-122"/>
                <a:cs typeface="Merriweather" pitchFamily="34" charset="-120"/>
              </a:rPr>
              <a:t>Transparent Data Policies</a:t>
            </a:r>
            <a:endParaRPr lang="en-US" sz="2187" dirty="0"/>
          </a:p>
        </p:txBody>
      </p:sp>
      <p:sp>
        <p:nvSpPr>
          <p:cNvPr id="13" name="Text 10"/>
          <p:cNvSpPr/>
          <p:nvPr/>
        </p:nvSpPr>
        <p:spPr>
          <a:xfrm>
            <a:off x="2267783" y="5852636"/>
            <a:ext cx="4706541" cy="710803"/>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Clearly communicate how user information is collected and used.</a:t>
            </a:r>
            <a:endParaRPr lang="en-US" sz="1750" dirty="0"/>
          </a:p>
        </p:txBody>
      </p:sp>
      <p:sp>
        <p:nvSpPr>
          <p:cNvPr id="14" name="Shape 11"/>
          <p:cNvSpPr/>
          <p:nvPr/>
        </p:nvSpPr>
        <p:spPr>
          <a:xfrm>
            <a:off x="7426285" y="5142428"/>
            <a:ext cx="5166122" cy="1650802"/>
          </a:xfrm>
          <a:prstGeom prst="roundRect">
            <a:avLst>
              <a:gd name="adj" fmla="val 6057"/>
            </a:avLst>
          </a:prstGeom>
          <a:solidFill>
            <a:srgbClr val="FFD8CC"/>
          </a:solidFill>
          <a:ln w="7620">
            <a:solidFill>
              <a:srgbClr val="E5BEB2"/>
            </a:solidFill>
            <a:prstDash val="solid"/>
          </a:ln>
        </p:spPr>
      </p:sp>
      <p:sp>
        <p:nvSpPr>
          <p:cNvPr id="15" name="Text 12"/>
          <p:cNvSpPr/>
          <p:nvPr/>
        </p:nvSpPr>
        <p:spPr>
          <a:xfrm>
            <a:off x="7656076" y="5372219"/>
            <a:ext cx="2821543" cy="347186"/>
          </a:xfrm>
          <a:prstGeom prst="rect">
            <a:avLst/>
          </a:prstGeom>
          <a:noFill/>
          <a:ln/>
        </p:spPr>
        <p:txBody>
          <a:bodyPr wrap="none" rtlCol="0" anchor="t"/>
          <a:lstStyle/>
          <a:p>
            <a:pPr marL="0" indent="0">
              <a:lnSpc>
                <a:spcPts val="2734"/>
              </a:lnSpc>
              <a:buNone/>
            </a:pPr>
            <a:r>
              <a:rPr lang="en-US" sz="2187" b="1" dirty="0">
                <a:solidFill>
                  <a:srgbClr val="403C4E"/>
                </a:solidFill>
                <a:latin typeface="Merriweather" pitchFamily="34" charset="0"/>
                <a:ea typeface="Merriweather" pitchFamily="34" charset="-122"/>
                <a:cs typeface="Merriweather" pitchFamily="34" charset="-120"/>
              </a:rPr>
              <a:t>Ethical AI Principles</a:t>
            </a:r>
            <a:endParaRPr lang="en-US" sz="2187" dirty="0"/>
          </a:p>
        </p:txBody>
      </p:sp>
      <p:sp>
        <p:nvSpPr>
          <p:cNvPr id="16" name="Text 13"/>
          <p:cNvSpPr/>
          <p:nvPr/>
        </p:nvSpPr>
        <p:spPr>
          <a:xfrm>
            <a:off x="7656076" y="5852636"/>
            <a:ext cx="4706541" cy="710803"/>
          </a:xfrm>
          <a:prstGeom prst="rect">
            <a:avLst/>
          </a:prstGeom>
          <a:noFill/>
          <a:ln/>
        </p:spPr>
        <p:txBody>
          <a:bodyPr wrap="square" rtlCol="0" anchor="t"/>
          <a:lstStyle/>
          <a:p>
            <a:pPr marL="0" indent="0">
              <a:lnSpc>
                <a:spcPts val="2799"/>
              </a:lnSpc>
              <a:buNone/>
            </a:pPr>
            <a:r>
              <a:rPr lang="en-US" sz="1750" dirty="0">
                <a:solidFill>
                  <a:srgbClr val="403C4E"/>
                </a:solidFill>
                <a:latin typeface="Open Sans" pitchFamily="34" charset="0"/>
                <a:ea typeface="Open Sans" pitchFamily="34" charset="-122"/>
                <a:cs typeface="Open Sans" pitchFamily="34" charset="-120"/>
              </a:rPr>
              <a:t>Adhere to principles of privacy, fairness, and accountability.</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3510558" y="441722"/>
            <a:ext cx="7609284" cy="1001316"/>
          </a:xfrm>
          <a:prstGeom prst="rect">
            <a:avLst/>
          </a:prstGeom>
          <a:noFill/>
          <a:ln/>
        </p:spPr>
        <p:txBody>
          <a:bodyPr wrap="square" rtlCol="0" anchor="t"/>
          <a:lstStyle/>
          <a:p>
            <a:pPr marL="0" indent="0">
              <a:lnSpc>
                <a:spcPts val="3942"/>
              </a:lnSpc>
              <a:buNone/>
            </a:pPr>
            <a:r>
              <a:rPr lang="en-US" sz="3153" b="1" dirty="0">
                <a:solidFill>
                  <a:srgbClr val="403C4E"/>
                </a:solidFill>
                <a:latin typeface="Merriweather" pitchFamily="34" charset="0"/>
                <a:ea typeface="Merriweather" pitchFamily="34" charset="-122"/>
                <a:cs typeface="Merriweather" pitchFamily="34" charset="-120"/>
              </a:rPr>
              <a:t>Evaluating Chatbot Performance and Iterating</a:t>
            </a:r>
            <a:endParaRPr lang="en-US" sz="3153" dirty="0"/>
          </a:p>
        </p:txBody>
      </p:sp>
      <p:sp>
        <p:nvSpPr>
          <p:cNvPr id="5" name="Text 2"/>
          <p:cNvSpPr/>
          <p:nvPr/>
        </p:nvSpPr>
        <p:spPr>
          <a:xfrm>
            <a:off x="3510558" y="1763316"/>
            <a:ext cx="7609284" cy="256223"/>
          </a:xfrm>
          <a:prstGeom prst="rect">
            <a:avLst/>
          </a:prstGeom>
          <a:noFill/>
          <a:ln/>
        </p:spPr>
        <p:txBody>
          <a:bodyPr wrap="none" rtlCol="0" anchor="t"/>
          <a:lstStyle/>
          <a:p>
            <a:pPr marL="0" indent="0">
              <a:lnSpc>
                <a:spcPts val="2018"/>
              </a:lnSpc>
              <a:buNone/>
            </a:pPr>
            <a:r>
              <a:rPr lang="en-US" sz="1261" dirty="0">
                <a:solidFill>
                  <a:srgbClr val="403C4E"/>
                </a:solidFill>
                <a:latin typeface="Open Sans" pitchFamily="34" charset="0"/>
                <a:ea typeface="Open Sans" pitchFamily="34" charset="-122"/>
                <a:cs typeface="Open Sans" pitchFamily="34" charset="-120"/>
              </a:rPr>
              <a:t>Regularly assess chatbot's effectiveness through user feedback and analytics.</a:t>
            </a:r>
            <a:endParaRPr lang="en-US" sz="1261" dirty="0"/>
          </a:p>
        </p:txBody>
      </p:sp>
      <p:sp>
        <p:nvSpPr>
          <p:cNvPr id="6" name="Text 3"/>
          <p:cNvSpPr/>
          <p:nvPr/>
        </p:nvSpPr>
        <p:spPr>
          <a:xfrm>
            <a:off x="3510558" y="2199680"/>
            <a:ext cx="7609284" cy="256223"/>
          </a:xfrm>
          <a:prstGeom prst="rect">
            <a:avLst/>
          </a:prstGeom>
          <a:noFill/>
          <a:ln/>
        </p:spPr>
        <p:txBody>
          <a:bodyPr wrap="none" rtlCol="0" anchor="t"/>
          <a:lstStyle/>
          <a:p>
            <a:pPr marL="0" indent="0">
              <a:lnSpc>
                <a:spcPts val="2018"/>
              </a:lnSpc>
              <a:buNone/>
            </a:pPr>
            <a:r>
              <a:rPr lang="en-US" sz="1261" dirty="0">
                <a:solidFill>
                  <a:srgbClr val="403C4E"/>
                </a:solidFill>
                <a:latin typeface="Open Sans" pitchFamily="34" charset="0"/>
                <a:ea typeface="Open Sans" pitchFamily="34" charset="-122"/>
                <a:cs typeface="Open Sans" pitchFamily="34" charset="-120"/>
              </a:rPr>
              <a:t>Identify areas for improvement and implement updates to enhance user experience.</a:t>
            </a:r>
            <a:endParaRPr lang="en-US" sz="1261" dirty="0"/>
          </a:p>
        </p:txBody>
      </p:sp>
      <p:sp>
        <p:nvSpPr>
          <p:cNvPr id="7" name="Text 4"/>
          <p:cNvSpPr/>
          <p:nvPr/>
        </p:nvSpPr>
        <p:spPr>
          <a:xfrm>
            <a:off x="3510558" y="2636044"/>
            <a:ext cx="7609284" cy="256223"/>
          </a:xfrm>
          <a:prstGeom prst="rect">
            <a:avLst/>
          </a:prstGeom>
          <a:noFill/>
          <a:ln/>
        </p:spPr>
        <p:txBody>
          <a:bodyPr wrap="none" rtlCol="0" anchor="t"/>
          <a:lstStyle/>
          <a:p>
            <a:pPr marL="0" indent="0">
              <a:lnSpc>
                <a:spcPts val="2018"/>
              </a:lnSpc>
              <a:buNone/>
            </a:pPr>
            <a:r>
              <a:rPr lang="en-US" sz="1261" dirty="0">
                <a:solidFill>
                  <a:srgbClr val="403C4E"/>
                </a:solidFill>
                <a:latin typeface="Open Sans" pitchFamily="34" charset="0"/>
                <a:ea typeface="Open Sans" pitchFamily="34" charset="-122"/>
                <a:cs typeface="Open Sans" pitchFamily="34" charset="-120"/>
              </a:rPr>
              <a:t>Collaborate with domain experts to refine chatbot's knowledge base and responses.</a:t>
            </a:r>
            <a:endParaRPr lang="en-US" sz="1261" dirty="0"/>
          </a:p>
        </p:txBody>
      </p:sp>
      <p:sp>
        <p:nvSpPr>
          <p:cNvPr id="8" name="Text 5"/>
          <p:cNvSpPr/>
          <p:nvPr/>
        </p:nvSpPr>
        <p:spPr>
          <a:xfrm>
            <a:off x="3510558" y="3072408"/>
            <a:ext cx="7609284" cy="256223"/>
          </a:xfrm>
          <a:prstGeom prst="rect">
            <a:avLst/>
          </a:prstGeom>
          <a:noFill/>
          <a:ln/>
        </p:spPr>
        <p:txBody>
          <a:bodyPr wrap="none" rtlCol="0" anchor="t"/>
          <a:lstStyle/>
          <a:p>
            <a:pPr marL="0" indent="0">
              <a:lnSpc>
                <a:spcPts val="2018"/>
              </a:lnSpc>
              <a:buNone/>
            </a:pPr>
            <a:r>
              <a:rPr lang="en-US" sz="1261" dirty="0">
                <a:solidFill>
                  <a:srgbClr val="403C4E"/>
                </a:solidFill>
                <a:latin typeface="Open Sans" pitchFamily="34" charset="0"/>
                <a:ea typeface="Open Sans" pitchFamily="34" charset="-122"/>
                <a:cs typeface="Open Sans" pitchFamily="34" charset="-120"/>
              </a:rPr>
              <a:t>Ensure privacy and security measures are working effectively.</a:t>
            </a:r>
            <a:endParaRPr lang="en-US" sz="1261" dirty="0"/>
          </a:p>
        </p:txBody>
      </p:sp>
      <p:sp>
        <p:nvSpPr>
          <p:cNvPr id="9" name="Text 6"/>
          <p:cNvSpPr/>
          <p:nvPr/>
        </p:nvSpPr>
        <p:spPr>
          <a:xfrm>
            <a:off x="3510558" y="3508772"/>
            <a:ext cx="7609284" cy="256223"/>
          </a:xfrm>
          <a:prstGeom prst="rect">
            <a:avLst/>
          </a:prstGeom>
          <a:noFill/>
          <a:ln/>
        </p:spPr>
        <p:txBody>
          <a:bodyPr wrap="none" rtlCol="0" anchor="t"/>
          <a:lstStyle/>
          <a:p>
            <a:pPr marL="0" indent="0">
              <a:lnSpc>
                <a:spcPts val="2018"/>
              </a:lnSpc>
              <a:buNone/>
            </a:pPr>
            <a:r>
              <a:rPr lang="en-US" sz="1261" dirty="0">
                <a:solidFill>
                  <a:srgbClr val="403C4E"/>
                </a:solidFill>
                <a:latin typeface="Open Sans" pitchFamily="34" charset="0"/>
                <a:ea typeface="Open Sans" pitchFamily="34" charset="-122"/>
                <a:cs typeface="Open Sans" pitchFamily="34" charset="-120"/>
              </a:rPr>
              <a:t>Foster continuous improvement through iterative development and testing cycles.</a:t>
            </a:r>
            <a:endParaRPr lang="en-US" sz="1261" dirty="0"/>
          </a:p>
        </p:txBody>
      </p:sp>
      <p:pic>
        <p:nvPicPr>
          <p:cNvPr id="10" name="Image 1" descr="preencoded.png"/>
          <p:cNvPicPr>
            <a:picLocks noChangeAspect="1"/>
          </p:cNvPicPr>
          <p:nvPr/>
        </p:nvPicPr>
        <p:blipFill>
          <a:blip r:embed="rId4"/>
          <a:stretch>
            <a:fillRect/>
          </a:stretch>
        </p:blipFill>
        <p:spPr>
          <a:xfrm>
            <a:off x="3510558" y="3945136"/>
            <a:ext cx="7609284" cy="384262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560</Words>
  <Application>Microsoft Office PowerPoint</Application>
  <PresentationFormat>Custom</PresentationFormat>
  <Paragraphs>80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Merriweather</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mahendar reddy</cp:lastModifiedBy>
  <cp:revision>4</cp:revision>
  <dcterms:created xsi:type="dcterms:W3CDTF">2024-05-21T17:53:24Z</dcterms:created>
  <dcterms:modified xsi:type="dcterms:W3CDTF">2024-05-21T18:11:13Z</dcterms:modified>
</cp:coreProperties>
</file>